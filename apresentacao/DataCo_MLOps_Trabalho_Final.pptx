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6" r:id="rId10"/>
    <p:sldId id="270" r:id="rId11"/>
    <p:sldId id="268" r:id="rId12"/>
    <p:sldId id="269" r:id="rId13"/>
  </p:sldIdLst>
  <p:sldSz cx="12192000" cy="6858000"/>
  <p:notesSz cx="6858000" cy="12192000"/>
  <p:embeddedFontLst>
    <p:embeddedFont>
      <p:font typeface="DM Sans" pitchFamily="2"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6"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797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Na Atividade 1 diagnosticamos a maturidade de MLOps da DataCo. Hoje mostramos o passo seguinte: transformamos as três ações propostas num pipeline que roda de ponta a ponta, com dados reais, e demonstramos o ciclo de vida do modelo funcionando.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Atividade 1 avaliamos o repositório DataCo com a régua do professor: 6,0 de 12. As lacunas mais críticas eram monitoramento (1,0), implantação (1,5) e versionamento de dados e modelos. Propusemos três ações: monitorar e alertar, automatizar com testes e versionar dados e modelos. O trabalho final é a implementação dessas três ações.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Escolhemos previsão de demanda porque foi o exemplo principal da Atividade 1 e porque o custo do erro é fácil de explicar: errar para cima vira estoque parado, errar para baixo vira ruptura. Usamos as 10 categorias de maior volume, que somam cerca de 2.300 unidades por semana, ou uns 230 por categoria. Essa escala dá sentido aos erros que vamos mostrar.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Aula 4 não usa MLflow: ela tem Airflow, Postgres, Elasticsearch, um LLM e Grafana. Para dar ênfase à Aula 4 e ainda demonstrar MLflow, reaproveitamos o mesmo docker-compose, trocamos o Elasticsearch e o LLM por um servidor MLflow e colocamos o pipeline tabular dentro do Airflow. Cada peça veio de uma aula: MLflow e Optuna da Aula 1, Postgres em Docker da Aula 2, feature store e testes da Aula 3, Airflow e Grafana da Aula 4. Descartamos replicar o RAG porque o DataCo é uma tabela de pedidos, não um conjunto de documentos.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DAG pipeline_demanda_dataco encadeia sete tarefas. Duas delas são barreiras de qualidade: os testes de unidade rodam primeiro e a validação de dados roda antes do treino; se qualquer uma falhar, nada é treinado. Esse é o "CI com testes" da Ação 2, dentro do próprio pipeline. A execução inteira leva cerca de 30 segundos. Em produção a DAG rodaria toda semana; na demo ela é disparada à mão.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DAG recebe um parâmetro, data_corte, que simula o dia de hoje. O modelo só enxerga dados até essa data. As 12 semanas antes do corte servem para o gate comparar modelos, e as 12 semanas depois servem para monitorar como o modelo se sairia em produção. Rodar a DAG de novo com um corte mais recente simula o retreino semanal. A divisão é sempre temporal: isso responde à dúvida que levantamos na Atividade 1 sobre o R² de 0,97 do repositório original, obtido com divisão aleatória em dados com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Mesmo padrão da Aula 1: cada execução cria uma run pai e o Optuna cria uma run filha por tentativa. São 47 runs: 3 runs pai e 44 tentativas (14 no primeiro corte, 15 nos outros dois). Na run do corte 2017-09-25 aparecem os hiperparâmetros escolhidos, o RMSE de validação (26,8), o RMSE da regra simples (35,8) e o hash dos dados de treino. O hash responde exatamente com quais dados aquele modelo foi treinado, que era a lacuna de versionamento da Atividade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coração da Ação 3. Cada treino registra uma nova versão no Model Registry, mas só uma versão tem o alias champion, que é o modelo de produção. O gate compara o candidato com duas referências: a regra simples, que é o que um analista faria sem modelo, e o champion atual, medido nas mesmas 12 semanas. Promoveu ou rejeitou, a decisão vira uma tag na versão e uma linha na tabela de decisões. Hoje a margem exigida é zero; em produção faria sentido exigir uma melhora mínima, de 2 a 5%, para não trocar o modelo por ruído.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painel do Grafana muda conforme a data de corte escolhida no topo. Nos dois primeiros cortes tudo fica verde: no total das 12 semanas a previsão ficou a 1% e a 5% do real. O corte 2 previu 5% acima, um viés de superestimar que viraria sobra de estoque se ninguém olhasse. Por categoria e por semana, o erro médio é de 20 a 23 unidades, cerca de 10% de uma venda típica. Para o planejamento do trimestre, o número é confiável.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momento central da demo. No terceiro corte o gate aprovou a v3, e com razão: olhando para as semanas antes do corte, ela era o melhor modelo. Mas em outubro de 2017 a venda das 10 categorias principais zerou. Não sabemos a causa: pode ser troca de catálogo, mudança de sistema ou o fim da coleta. Nenhum modelo prevê isso. O que o pipeline fez foi perceber: na primeira semana o erro médio pulou de cerca de 20 para cerca de 215 por categoria, e os cards ficaram vermelhos. Sem monitoramento, a empresa teria planejado cerca de 8 mil unidades e só descobriria no fechamento do trimestre. Detalhe para mostrar maturidade: depois do pico o MAE volta para perto de 20, mesmo com venda zero, porque o modelo segue prevendo vendas pequenas. O MAE sozinho engana; por isso o painel mostra real e previsto lado a lado. O gate valida o passado; só o monitoramento enxerga o que acontece depois do deploy.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Fechamos com a mesma régua da Atividade 1. Pela nossa estimativa, a DataCo passa de 6,0 para 8,5 de 12. Monitoramento é o maior salto: de 1,0, só logs, para 2,0, com painel e limiar de erro. Os quatro componentes chegam ao nível Intermediário. Não chegamos ao Avançado porque faltam alerta automático, CI/CD externo, rollback e detecção formal de drift, que estão no próximo slide. É uma avaliação nossa, não uma nota oficial.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Fechamento honesto: não fizemos alerta automático por e-mail, CI/CD externo, detecção formal de drift nem deploy em nuvem; esses são os próximos degraus da régua. Também vale exigir uma margem mínima para promover um modelo, monitorar o erro relativo, que não engana quando a venda zera, e calcular o custo do erro em reais a partir do estoque de segurança. A mensagem final: não vendemos um modelo de previsão, vendemos um modelo que se mantém confiável sozinho e avisa quando deixa de ser. O código completo está no repositório público do grupo.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5213A"/>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521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5213A"/>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521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urilocaio75/M14-MLops-Trabalho_Fina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urilocaio75/M14-MLops-Trabalho_Fina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A"/>
        </a:solidFill>
        <a:effectLst/>
      </p:bgPr>
    </p:bg>
    <p:spTree>
      <p:nvGrpSpPr>
        <p:cNvPr id="1" name=""/>
        <p:cNvGrpSpPr/>
        <p:nvPr/>
      </p:nvGrpSpPr>
      <p:grpSpPr>
        <a:xfrm>
          <a:off x="0" y="0"/>
          <a:ext cx="0" cy="0"/>
          <a:chOff x="0" y="0"/>
          <a:chExt cx="0" cy="0"/>
        </a:xfrm>
      </p:grpSpPr>
      <p:sp>
        <p:nvSpPr>
          <p:cNvPr id="2" name="Text 0"/>
          <p:cNvSpPr/>
          <p:nvPr/>
        </p:nvSpPr>
        <p:spPr>
          <a:xfrm>
            <a:off x="812800" y="803910"/>
            <a:ext cx="10883392" cy="274320"/>
          </a:xfrm>
          <a:prstGeom prst="rect">
            <a:avLst/>
          </a:prstGeom>
          <a:noFill/>
          <a:ln/>
        </p:spPr>
        <p:txBody>
          <a:bodyPr wrap="square" lIns="0" tIns="0" rIns="0" bIns="0" rtlCol="0" anchor="t">
            <a:noAutofit/>
          </a:bodyPr>
          <a:lstStyle/>
          <a:p>
            <a:pPr marL="0" indent="0" algn="l">
              <a:lnSpc>
                <a:spcPts val="1960"/>
              </a:lnSpc>
              <a:buNone/>
            </a:pPr>
            <a:r>
              <a:rPr lang="en-US" sz="2400" b="1" kern="0" spc="300" dirty="0">
                <a:solidFill>
                  <a:srgbClr val="F2A23A"/>
                </a:solidFill>
                <a:latin typeface="DM Sans" pitchFamily="34" charset="0"/>
                <a:ea typeface="DM Sans" pitchFamily="34" charset="-122"/>
                <a:cs typeface="DM Sans" pitchFamily="34" charset="-120"/>
              </a:rPr>
              <a:t>MLOPS · TRABALHO FINAL</a:t>
            </a:r>
            <a:endParaRPr lang="en-US" sz="2400" dirty="0"/>
          </a:p>
        </p:txBody>
      </p:sp>
      <p:sp>
        <p:nvSpPr>
          <p:cNvPr id="3" name="Text 1"/>
          <p:cNvSpPr>
            <a:spLocks noGrp="1"/>
          </p:cNvSpPr>
          <p:nvPr>
            <p:ph type="title"/>
          </p:nvPr>
        </p:nvSpPr>
        <p:spPr>
          <a:xfrm>
            <a:off x="751840" y="1986643"/>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DM Sans" pitchFamily="34" charset="0"/>
                <a:ea typeface="DM Sans" pitchFamily="34" charset="-122"/>
                <a:cs typeface="DM Sans" pitchFamily="34" charset="-120"/>
              </a:rPr>
              <a:t>Do diagnóstico ao pipeline</a:t>
            </a:r>
            <a:endParaRPr lang="en-US" sz="6000" dirty="0"/>
          </a:p>
        </p:txBody>
      </p:sp>
      <p:sp>
        <p:nvSpPr>
          <p:cNvPr id="4" name="Text 2"/>
          <p:cNvSpPr/>
          <p:nvPr/>
        </p:nvSpPr>
        <p:spPr>
          <a:xfrm>
            <a:off x="812800" y="2935786"/>
            <a:ext cx="9156700" cy="77978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C9D3E3"/>
                </a:solidFill>
                <a:latin typeface="DM Sans" pitchFamily="34" charset="0"/>
                <a:ea typeface="DM Sans" pitchFamily="34" charset="-122"/>
                <a:cs typeface="DM Sans" pitchFamily="34" charset="-120"/>
              </a:rPr>
              <a:t>DataCo Supply Chain: previsão de demanda semanal com Airflow, MLflow e Grafana</a:t>
            </a:r>
            <a:endParaRPr lang="en-US" sz="2200" dirty="0"/>
          </a:p>
        </p:txBody>
      </p:sp>
      <p:sp>
        <p:nvSpPr>
          <p:cNvPr id="6" name="Text 4"/>
          <p:cNvSpPr/>
          <p:nvPr/>
        </p:nvSpPr>
        <p:spPr>
          <a:xfrm>
            <a:off x="7595576" y="669290"/>
            <a:ext cx="3635058" cy="408940"/>
          </a:xfrm>
          <a:prstGeom prst="roundRect">
            <a:avLst>
              <a:gd name="adj" fmla="val 50000"/>
            </a:avLst>
          </a:prstGeom>
          <a:noFill/>
          <a:ln w="12700">
            <a:solidFill>
              <a:srgbClr val="C9D3E3"/>
            </a:solidFill>
            <a:prstDash val="solid"/>
          </a:ln>
        </p:spPr>
        <p:txBody>
          <a:bodyPr wrap="none" lIns="0" tIns="0" rIns="0" bIns="0" rtlCol="0" anchor="ctr">
            <a:normAutofit/>
          </a:bodyPr>
          <a:lstStyle/>
          <a:p>
            <a:pPr marL="0" indent="0" algn="ctr">
              <a:lnSpc>
                <a:spcPts val="1960"/>
              </a:lnSpc>
              <a:buNone/>
            </a:pPr>
            <a:r>
              <a:rPr lang="en-US" sz="1400" dirty="0">
                <a:solidFill>
                  <a:srgbClr val="F5F4EF"/>
                </a:solidFill>
                <a:latin typeface="DM Sans" pitchFamily="34" charset="0"/>
                <a:ea typeface="DM Sans" pitchFamily="34" charset="-122"/>
                <a:cs typeface="DM Sans" pitchFamily="34" charset="-120"/>
              </a:rPr>
              <a:t>Generative AI Academy · Dell / Unisinos</a:t>
            </a:r>
            <a:endParaRPr lang="en-US" sz="1400" dirty="0"/>
          </a:p>
        </p:txBody>
      </p:sp>
      <p:sp>
        <p:nvSpPr>
          <p:cNvPr id="8" name="Text 6">
            <a:extLst>
              <a:ext uri="{FF2B5EF4-FFF2-40B4-BE49-F238E27FC236}">
                <a16:creationId xmlns:a16="http://schemas.microsoft.com/office/drawing/2014/main" id="{C03D7743-F520-86DD-598C-9BFEDE1E643D}"/>
              </a:ext>
            </a:extLst>
          </p:cNvPr>
          <p:cNvSpPr/>
          <p:nvPr/>
        </p:nvSpPr>
        <p:spPr>
          <a:xfrm>
            <a:off x="812800" y="6176554"/>
            <a:ext cx="4818380" cy="4071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Código: </a:t>
            </a:r>
            <a:r>
              <a:rPr lang="en-US" sz="1200" u="sng" dirty="0">
                <a:solidFill>
                  <a:srgbClr val="C9D3E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github.com/murilocaio75/M14-MLops-Trabalho_Final</a:t>
            </a:r>
            <a:endParaRPr lang="en-US" sz="1200" dirty="0"/>
          </a:p>
        </p:txBody>
      </p:sp>
      <p:sp>
        <p:nvSpPr>
          <p:cNvPr id="10" name="Text 6">
            <a:extLst>
              <a:ext uri="{FF2B5EF4-FFF2-40B4-BE49-F238E27FC236}">
                <a16:creationId xmlns:a16="http://schemas.microsoft.com/office/drawing/2014/main" id="{AD8043AA-7987-9477-7531-FA82A010C9F0}"/>
              </a:ext>
            </a:extLst>
          </p:cNvPr>
          <p:cNvSpPr/>
          <p:nvPr/>
        </p:nvSpPr>
        <p:spPr>
          <a:xfrm>
            <a:off x="812800" y="4338365"/>
            <a:ext cx="4735322" cy="1522730"/>
          </a:xfrm>
          <a:prstGeom prst="rect">
            <a:avLst/>
          </a:prstGeom>
          <a:noFill/>
          <a:ln/>
        </p:spPr>
        <p:txBody>
          <a:bodyPr wrap="square" lIns="0" tIns="0" rIns="0" bIns="0" rtlCol="0" anchor="t">
            <a:normAutofit/>
          </a:bodyPr>
          <a:lstStyle/>
          <a:p>
            <a:pPr marL="0" indent="0" algn="l">
              <a:lnSpc>
                <a:spcPts val="1680"/>
              </a:lnSpc>
              <a:buNone/>
            </a:pPr>
            <a:r>
              <a:rPr lang="en-US" sz="1600" b="1" u="sng" dirty="0" err="1">
                <a:solidFill>
                  <a:srgbClr val="C9D3E3"/>
                </a:solidFill>
                <a:latin typeface="DM Sans" pitchFamily="34" charset="0"/>
              </a:rPr>
              <a:t>Alunos</a:t>
            </a:r>
            <a:br>
              <a:rPr lang="en-US" sz="1600" b="1" u="sng" dirty="0">
                <a:solidFill>
                  <a:srgbClr val="C9D3E3"/>
                </a:solidFill>
                <a:latin typeface="DM Sans" pitchFamily="34" charset="0"/>
              </a:rPr>
            </a:br>
            <a:br>
              <a:rPr lang="en-US" sz="1600" dirty="0">
                <a:solidFill>
                  <a:srgbClr val="C9D3E3"/>
                </a:solidFill>
                <a:latin typeface="DM Sans" pitchFamily="34" charset="0"/>
              </a:rPr>
            </a:br>
            <a:r>
              <a:rPr lang="en-US" sz="1600" dirty="0">
                <a:solidFill>
                  <a:srgbClr val="C9D3E3"/>
                </a:solidFill>
                <a:latin typeface="DM Sans" pitchFamily="34" charset="0"/>
              </a:rPr>
              <a:t>Caio Murilo </a:t>
            </a:r>
            <a:br>
              <a:rPr lang="en-US" sz="1600" dirty="0">
                <a:solidFill>
                  <a:srgbClr val="C9D3E3"/>
                </a:solidFill>
                <a:latin typeface="DM Sans" pitchFamily="34" charset="0"/>
              </a:rPr>
            </a:br>
            <a:r>
              <a:rPr lang="en-US" sz="1600" dirty="0">
                <a:solidFill>
                  <a:srgbClr val="C9D3E3"/>
                </a:solidFill>
                <a:latin typeface="DM Sans" pitchFamily="34" charset="0"/>
              </a:rPr>
              <a:t>Gustavo Rost</a:t>
            </a:r>
            <a:br>
              <a:rPr lang="en-US" sz="1600" dirty="0">
                <a:solidFill>
                  <a:srgbClr val="C9D3E3"/>
                </a:solidFill>
                <a:latin typeface="DM Sans" pitchFamily="34" charset="0"/>
              </a:rPr>
            </a:br>
            <a:r>
              <a:rPr lang="en-US" sz="1600" dirty="0">
                <a:solidFill>
                  <a:srgbClr val="C9D3E3"/>
                </a:solidFill>
                <a:latin typeface="DM Sans" pitchFamily="34" charset="0"/>
              </a:rPr>
              <a:t>Lucca Becker</a:t>
            </a:r>
            <a:br>
              <a:rPr lang="en-US" sz="1600" dirty="0">
                <a:solidFill>
                  <a:srgbClr val="C9D3E3"/>
                </a:solidFill>
                <a:latin typeface="DM Sans" pitchFamily="34" charset="0"/>
              </a:rPr>
            </a:br>
            <a:r>
              <a:rPr lang="en-US" sz="1600" dirty="0">
                <a:solidFill>
                  <a:srgbClr val="C9D3E3"/>
                </a:solidFill>
                <a:latin typeface="DM Sans" pitchFamily="34" charset="0"/>
              </a:rPr>
              <a:t>Lyon Alves</a:t>
            </a:r>
            <a:br>
              <a:rPr lang="en-US" sz="1600" dirty="0">
                <a:solidFill>
                  <a:srgbClr val="C9D3E3"/>
                </a:solidFill>
                <a:latin typeface="DM Sans" pitchFamily="34" charset="0"/>
              </a:rPr>
            </a:br>
            <a:r>
              <a:rPr lang="en-US" sz="1600" dirty="0">
                <a:solidFill>
                  <a:srgbClr val="C9D3E3"/>
                </a:solidFill>
                <a:latin typeface="DM Sans" pitchFamily="34" charset="0"/>
              </a:rPr>
              <a:t>Victor Franceschini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RETOMADA · ATIVIDADE 1</a:t>
            </a:r>
            <a:endParaRPr lang="en-US" sz="1200" dirty="0"/>
          </a:p>
        </p:txBody>
      </p:sp>
      <p:sp>
        <p:nvSpPr>
          <p:cNvPr id="3" name="Text 1"/>
          <p:cNvSpPr>
            <a:spLocks noGrp="1"/>
          </p:cNvSpPr>
          <p:nvPr>
            <p:ph type="title"/>
          </p:nvPr>
        </p:nvSpPr>
        <p:spPr>
          <a:xfrm>
            <a:off x="812800" y="1127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O diagnóstico deu 6,0 de 12 e apontou três lacunas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1917700"/>
        </p:xfrm>
        <a:graphic>
          <a:graphicData uri="http://schemas.openxmlformats.org/drawingml/2006/table">
            <a:tbl>
              <a:tblPr/>
              <a:tblGrid>
                <a:gridCol w="2111248">
                  <a:extLst>
                    <a:ext uri="{9D8B030D-6E8A-4147-A177-3AD203B41FA5}">
                      <a16:colId xmlns:a16="http://schemas.microsoft.com/office/drawing/2014/main" val="20000"/>
                    </a:ext>
                  </a:extLst>
                </a:gridCol>
                <a:gridCol w="1055624">
                  <a:extLst>
                    <a:ext uri="{9D8B030D-6E8A-4147-A177-3AD203B41FA5}">
                      <a16:colId xmlns:a16="http://schemas.microsoft.com/office/drawing/2014/main" val="20001"/>
                    </a:ext>
                  </a:extLst>
                </a:gridCol>
                <a:gridCol w="3483559">
                  <a:extLst>
                    <a:ext uri="{9D8B030D-6E8A-4147-A177-3AD203B41FA5}">
                      <a16:colId xmlns:a16="http://schemas.microsoft.com/office/drawing/2014/main" val="20002"/>
                    </a:ext>
                  </a:extLst>
                </a:gridCol>
                <a:gridCol w="3905809">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5F4EF"/>
                          </a:solidFill>
                          <a:latin typeface="DM Sans" pitchFamily="34" charset="0"/>
                          <a:ea typeface="DM Sans" pitchFamily="34" charset="-122"/>
                          <a:cs typeface="DM Sans" pitchFamily="34" charset="-120"/>
                        </a:rPr>
                        <a:t>Componente</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gn="ctr">
                        <a:lnSpc>
                          <a:spcPts val="1960"/>
                        </a:lnSpc>
                        <a:buNone/>
                      </a:pPr>
                      <a:r>
                        <a:rPr lang="en-US" sz="1400" b="1" dirty="0">
                          <a:solidFill>
                            <a:srgbClr val="F5F4EF"/>
                          </a:solidFill>
                          <a:latin typeface="DM Sans" pitchFamily="34" charset="0"/>
                          <a:ea typeface="DM Sans" pitchFamily="34" charset="-122"/>
                          <a:cs typeface="DM Sans" pitchFamily="34" charset="-120"/>
                        </a:rPr>
                        <a:t>Nota</a:t>
                      </a:r>
                      <a:endParaRPr lang="en-US" sz="1400" dirty="0">
                        <a:latin typeface="DM Sans" charset="0"/>
                        <a:ea typeface="DM Sans" charset="0"/>
                        <a:cs typeface="DM Sans" charset="0"/>
                      </a:endParaRPr>
                    </a:p>
                  </a:txBody>
                  <a:tcPr marL="62230" marR="62230" marT="62230" marB="62230">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nSpc>
                          <a:spcPts val="1960"/>
                        </a:lnSpc>
                        <a:buNone/>
                      </a:pPr>
                      <a:r>
                        <a:rPr lang="en-US" sz="1400" b="1" dirty="0">
                          <a:solidFill>
                            <a:srgbClr val="F5F4EF"/>
                          </a:solidFill>
                          <a:latin typeface="DM Sans" pitchFamily="34" charset="0"/>
                          <a:ea typeface="DM Sans" pitchFamily="34" charset="-122"/>
                          <a:cs typeface="DM Sans" pitchFamily="34" charset="-120"/>
                        </a:rPr>
                        <a:t>Lacuna</a:t>
                      </a:r>
                      <a:endParaRPr lang="en-US" sz="1400" dirty="0">
                        <a:latin typeface="DM Sans" charset="0"/>
                        <a:ea typeface="DM Sans" charset="0"/>
                        <a:cs typeface="DM Sans" charset="0"/>
                      </a:endParaRPr>
                    </a:p>
                  </a:txBody>
                  <a:tcPr marL="62230" marR="62230" marT="62230" marB="62230">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nSpc>
                          <a:spcPts val="1960"/>
                        </a:lnSpc>
                        <a:buNone/>
                      </a:pPr>
                      <a:r>
                        <a:rPr lang="en-US" sz="1400" b="1" dirty="0">
                          <a:solidFill>
                            <a:srgbClr val="F5F4EF"/>
                          </a:solidFill>
                          <a:latin typeface="DM Sans" pitchFamily="34" charset="0"/>
                          <a:ea typeface="DM Sans" pitchFamily="34" charset="-122"/>
                          <a:cs typeface="DM Sans" pitchFamily="34" charset="-120"/>
                        </a:rPr>
                        <a:t>Como o trabalho final responde</a:t>
                      </a:r>
                      <a:endParaRPr lang="en-US" sz="1400" dirty="0">
                        <a:latin typeface="DM Sans" charset="0"/>
                        <a:ea typeface="DM Sans" charset="0"/>
                        <a:cs typeface="DM Sans" charset="0"/>
                      </a:endParaRPr>
                    </a:p>
                  </a:txBody>
                  <a:tcPr marL="62230" marR="62230" marT="62230" marB="62230">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Monitoramento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960"/>
                        </a:lnSpc>
                        <a:buNone/>
                      </a:pPr>
                      <a:r>
                        <a:rPr lang="en-US" sz="1400" dirty="0">
                          <a:solidFill>
                            <a:srgbClr val="15213A"/>
                          </a:solidFill>
                          <a:latin typeface="DM Sans" pitchFamily="34" charset="0"/>
                          <a:ea typeface="DM Sans" pitchFamily="34" charset="-122"/>
                          <a:cs typeface="DM Sans" pitchFamily="34" charset="-120"/>
                        </a:rPr>
                        <a:t>1,0</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O modelo piora sem ninguém ver</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Previsão x venda real no Grafana</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Implantação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960"/>
                        </a:lnSpc>
                        <a:buNone/>
                      </a:pPr>
                      <a:r>
                        <a:rPr lang="en-US" sz="1400" dirty="0">
                          <a:solidFill>
                            <a:srgbClr val="15213A"/>
                          </a:solidFill>
                          <a:latin typeface="DM Sans" pitchFamily="34" charset="0"/>
                          <a:ea typeface="DM Sans" pitchFamily="34" charset="-122"/>
                          <a:cs typeface="DM Sans" pitchFamily="34" charset="-120"/>
                        </a:rPr>
                        <a:t>1,5</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Deploy manual e sem teste</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Testes e validação dentro da DAG</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Experimentação</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960"/>
                        </a:lnSpc>
                        <a:buNone/>
                      </a:pPr>
                      <a:r>
                        <a:rPr lang="en-US" sz="1400" dirty="0">
                          <a:solidFill>
                            <a:srgbClr val="15213A"/>
                          </a:solidFill>
                          <a:latin typeface="DM Sans" pitchFamily="34" charset="0"/>
                          <a:ea typeface="DM Sans" pitchFamily="34" charset="-122"/>
                          <a:cs typeface="DM Sans" pitchFamily="34" charset="-120"/>
                        </a:rPr>
                        <a:t>2,0</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Dados e modelos sem versão</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MLflow Registry e hash dos dados</a:t>
                      </a:r>
                      <a:endParaRPr lang="en-US" sz="1400" dirty="0">
                        <a:latin typeface="DM Sans" charset="0"/>
                        <a:ea typeface="DM Sans" charset="0"/>
                        <a:cs typeface="DM Sans" charset="0"/>
                      </a:endParaRPr>
                    </a:p>
                  </a:txBody>
                  <a:tcPr marL="62230" marR="62230" marT="62230" marB="62230">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Governança</a:t>
                      </a:r>
                      <a:endParaRPr lang="en-US" sz="1400" dirty="0">
                        <a:latin typeface="DM Sans" charset="0"/>
                        <a:ea typeface="DM Sans" charset="0"/>
                        <a:cs typeface="DM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960"/>
                        </a:lnSpc>
                        <a:buNone/>
                      </a:pPr>
                      <a:r>
                        <a:rPr lang="en-US" sz="1400" dirty="0">
                          <a:solidFill>
                            <a:srgbClr val="15213A"/>
                          </a:solidFill>
                          <a:latin typeface="DM Sans" pitchFamily="34" charset="0"/>
                          <a:ea typeface="DM Sans" pitchFamily="34" charset="-122"/>
                          <a:cs typeface="DM Sans" pitchFamily="34" charset="-120"/>
                        </a:rPr>
                        <a:t>1,5</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Sem model card nem rastro</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5213A"/>
                          </a:solidFill>
                          <a:latin typeface="DM Sans" pitchFamily="34" charset="0"/>
                          <a:ea typeface="DM Sans" pitchFamily="34" charset="-122"/>
                          <a:cs typeface="DM Sans" pitchFamily="34" charset="-120"/>
                        </a:rPr>
                        <a:t>Model card e histórico do gate</a:t>
                      </a:r>
                      <a:endParaRPr lang="en-US" sz="1400" dirty="0">
                        <a:latin typeface="DM Sans" charset="0"/>
                        <a:ea typeface="DM Sans" charset="0"/>
                        <a:cs typeface="DM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4"/>
                  </a:ext>
                </a:extLst>
              </a:tr>
            </a:tbl>
          </a:graphicData>
        </a:graphic>
      </p:graphicFrame>
      <p:sp>
        <p:nvSpPr>
          <p:cNvPr id="5" name="Shape 2"/>
          <p:cNvSpPr/>
          <p:nvPr/>
        </p:nvSpPr>
        <p:spPr>
          <a:xfrm>
            <a:off x="838200" y="4112260"/>
            <a:ext cx="0" cy="421640"/>
          </a:xfrm>
          <a:prstGeom prst="line">
            <a:avLst/>
          </a:prstGeom>
          <a:noFill/>
          <a:ln w="50800">
            <a:solidFill>
              <a:srgbClr val="F2A23A"/>
            </a:solidFill>
            <a:prstDash val="solid"/>
          </a:ln>
        </p:spPr>
        <p:txBody>
          <a:bodyPr/>
          <a:lstStyle/>
          <a:p>
            <a:endParaRPr lang="pt-BR"/>
          </a:p>
        </p:txBody>
      </p:sp>
      <p:sp>
        <p:nvSpPr>
          <p:cNvPr id="6" name="Text 3"/>
          <p:cNvSpPr/>
          <p:nvPr/>
        </p:nvSpPr>
        <p:spPr>
          <a:xfrm>
            <a:off x="1066800" y="4163060"/>
            <a:ext cx="1062177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5213A"/>
                </a:solidFill>
                <a:latin typeface="DM Sans" pitchFamily="34" charset="0"/>
                <a:ea typeface="DM Sans" pitchFamily="34" charset="-122"/>
                <a:cs typeface="DM Sans" pitchFamily="34" charset="-120"/>
              </a:rPr>
              <a:t>Hoje: as três ações propostas, implementadas e rodando com os dados reais.</a:t>
            </a:r>
            <a:endParaRPr lang="en-US" sz="1800" dirty="0"/>
          </a:p>
        </p:txBody>
      </p:sp>
      <p:sp>
        <p:nvSpPr>
          <p:cNvPr id="7" name="Text 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8" name="Text 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O CASO DE NEGÓCIO</a:t>
            </a:r>
            <a:endParaRPr lang="en-US" sz="1200" dirty="0"/>
          </a:p>
        </p:txBody>
      </p:sp>
      <p:sp>
        <p:nvSpPr>
          <p:cNvPr id="3" name="Text 1"/>
          <p:cNvSpPr>
            <a:spLocks noGrp="1"/>
          </p:cNvSpPr>
          <p:nvPr>
            <p:ph type="title"/>
          </p:nvPr>
        </p:nvSpPr>
        <p:spPr>
          <a:xfrm>
            <a:off x="812800" y="1127761"/>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Quanto cada categoria vai vender na próxima semana?</a:t>
            </a:r>
            <a:endParaRPr lang="en-US" sz="3200" dirty="0"/>
          </a:p>
        </p:txBody>
      </p:sp>
      <p:sp>
        <p:nvSpPr>
          <p:cNvPr id="4" name="Text 2"/>
          <p:cNvSpPr/>
          <p:nvPr/>
        </p:nvSpPr>
        <p:spPr>
          <a:xfrm>
            <a:off x="812800" y="2326641"/>
            <a:ext cx="528472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Toda semana a DataCo decide quanto repor. A previsão errada custa dinheiro dos dois lados.</a:t>
            </a:r>
            <a:endParaRPr lang="en-US" sz="1600" dirty="0"/>
          </a:p>
        </p:txBody>
      </p:sp>
      <p:sp>
        <p:nvSpPr>
          <p:cNvPr id="5" name="Shape 3"/>
          <p:cNvSpPr/>
          <p:nvPr/>
        </p:nvSpPr>
        <p:spPr>
          <a:xfrm>
            <a:off x="815975" y="3101975"/>
            <a:ext cx="5124450" cy="1258570"/>
          </a:xfrm>
          <a:prstGeom prst="roundRect">
            <a:avLst>
              <a:gd name="adj" fmla="val 5802"/>
            </a:avLst>
          </a:prstGeom>
          <a:solidFill>
            <a:srgbClr val="FDFDFA"/>
          </a:solidFill>
          <a:ln w="6350">
            <a:solidFill>
              <a:srgbClr val="DEDBD2"/>
            </a:solidFill>
            <a:prstDash val="solid"/>
          </a:ln>
        </p:spPr>
        <p:txBody>
          <a:bodyPr/>
          <a:lstStyle/>
          <a:p>
            <a:endParaRPr lang="pt-BR"/>
          </a:p>
        </p:txBody>
      </p:sp>
      <p:sp>
        <p:nvSpPr>
          <p:cNvPr id="6" name="Text 4"/>
          <p:cNvSpPr/>
          <p:nvPr/>
        </p:nvSpPr>
        <p:spPr>
          <a:xfrm>
            <a:off x="1021080" y="3307080"/>
            <a:ext cx="485566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13A"/>
                </a:solidFill>
                <a:latin typeface="DM Sans" pitchFamily="34" charset="0"/>
                <a:ea typeface="DM Sans" pitchFamily="34" charset="-122"/>
                <a:cs typeface="DM Sans" pitchFamily="34" charset="-120"/>
              </a:rPr>
              <a:t>Prever a mais</a:t>
            </a:r>
            <a:endParaRPr lang="en-US" sz="1800" dirty="0"/>
          </a:p>
        </p:txBody>
      </p:sp>
      <p:sp>
        <p:nvSpPr>
          <p:cNvPr id="7" name="Text 5"/>
          <p:cNvSpPr/>
          <p:nvPr/>
        </p:nvSpPr>
        <p:spPr>
          <a:xfrm>
            <a:off x="1021080" y="36576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Estoque parado: capital imobilizado e risco de obsolescência.</a:t>
            </a:r>
            <a:endParaRPr lang="en-US" sz="1400" dirty="0"/>
          </a:p>
        </p:txBody>
      </p:sp>
      <p:sp>
        <p:nvSpPr>
          <p:cNvPr id="8" name="Shape 6"/>
          <p:cNvSpPr/>
          <p:nvPr/>
        </p:nvSpPr>
        <p:spPr>
          <a:xfrm>
            <a:off x="815975" y="4570095"/>
            <a:ext cx="5124450" cy="1009650"/>
          </a:xfrm>
          <a:prstGeom prst="roundRect">
            <a:avLst>
              <a:gd name="adj" fmla="val 7233"/>
            </a:avLst>
          </a:prstGeom>
          <a:solidFill>
            <a:srgbClr val="FDFDFA"/>
          </a:solidFill>
          <a:ln w="6350">
            <a:solidFill>
              <a:srgbClr val="DEDBD2"/>
            </a:solidFill>
            <a:prstDash val="solid"/>
          </a:ln>
        </p:spPr>
        <p:txBody>
          <a:bodyPr/>
          <a:lstStyle/>
          <a:p>
            <a:endParaRPr lang="pt-BR"/>
          </a:p>
        </p:txBody>
      </p:sp>
      <p:sp>
        <p:nvSpPr>
          <p:cNvPr id="9" name="Text 7"/>
          <p:cNvSpPr/>
          <p:nvPr/>
        </p:nvSpPr>
        <p:spPr>
          <a:xfrm>
            <a:off x="1021080" y="4775200"/>
            <a:ext cx="485566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13A"/>
                </a:solidFill>
                <a:latin typeface="DM Sans" pitchFamily="34" charset="0"/>
                <a:ea typeface="DM Sans" pitchFamily="34" charset="-122"/>
                <a:cs typeface="DM Sans" pitchFamily="34" charset="-120"/>
              </a:rPr>
              <a:t>Prever a menos</a:t>
            </a:r>
            <a:endParaRPr lang="en-US" sz="1800" dirty="0"/>
          </a:p>
        </p:txBody>
      </p:sp>
      <p:sp>
        <p:nvSpPr>
          <p:cNvPr id="10" name="Text 8"/>
          <p:cNvSpPr/>
          <p:nvPr/>
        </p:nvSpPr>
        <p:spPr>
          <a:xfrm>
            <a:off x="1021080" y="5125720"/>
            <a:ext cx="48556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Ruptura: venda perdida e cliente insatisfeito.</a:t>
            </a:r>
            <a:endParaRPr lang="en-US" sz="1400" dirty="0"/>
          </a:p>
        </p:txBody>
      </p:sp>
      <p:sp>
        <p:nvSpPr>
          <p:cNvPr id="11" name="Shape 9"/>
          <p:cNvSpPr/>
          <p:nvPr/>
        </p:nvSpPr>
        <p:spPr>
          <a:xfrm>
            <a:off x="6248400" y="2326641"/>
            <a:ext cx="2489200" cy="1557020"/>
          </a:xfrm>
          <a:prstGeom prst="roundRect">
            <a:avLst>
              <a:gd name="adj" fmla="val 6525"/>
            </a:avLst>
          </a:prstGeom>
          <a:solidFill>
            <a:srgbClr val="15213A"/>
          </a:solidFill>
          <a:ln/>
        </p:spPr>
        <p:txBody>
          <a:bodyPr/>
          <a:lstStyle/>
          <a:p>
            <a:endParaRPr lang="pt-BR"/>
          </a:p>
        </p:txBody>
      </p:sp>
      <p:sp>
        <p:nvSpPr>
          <p:cNvPr id="12" name="Text 10"/>
          <p:cNvSpPr/>
          <p:nvPr/>
        </p:nvSpPr>
        <p:spPr>
          <a:xfrm>
            <a:off x="6502400" y="2703830"/>
            <a:ext cx="2040636"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2A23A"/>
                </a:solidFill>
                <a:latin typeface="DM Sans" pitchFamily="34" charset="0"/>
                <a:ea typeface="DM Sans" pitchFamily="34" charset="-122"/>
                <a:cs typeface="DM Sans" pitchFamily="34" charset="-120"/>
              </a:rPr>
              <a:t>180.519</a:t>
            </a:r>
            <a:endParaRPr lang="en-US" sz="3600" dirty="0"/>
          </a:p>
        </p:txBody>
      </p:sp>
      <p:sp>
        <p:nvSpPr>
          <p:cNvPr id="13" name="Text 11"/>
          <p:cNvSpPr/>
          <p:nvPr/>
        </p:nvSpPr>
        <p:spPr>
          <a:xfrm>
            <a:off x="6502400" y="3257550"/>
            <a:ext cx="204063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DM Sans" pitchFamily="34" charset="0"/>
                <a:ea typeface="DM Sans" pitchFamily="34" charset="-122"/>
                <a:cs typeface="DM Sans" pitchFamily="34" charset="-120"/>
              </a:rPr>
              <a:t>itens de pedido</a:t>
            </a:r>
            <a:endParaRPr lang="en-US" sz="1400" dirty="0"/>
          </a:p>
        </p:txBody>
      </p:sp>
      <p:sp>
        <p:nvSpPr>
          <p:cNvPr id="14" name="Shape 12"/>
          <p:cNvSpPr/>
          <p:nvPr/>
        </p:nvSpPr>
        <p:spPr>
          <a:xfrm>
            <a:off x="8890000" y="2326641"/>
            <a:ext cx="2489200" cy="1557020"/>
          </a:xfrm>
          <a:prstGeom prst="roundRect">
            <a:avLst>
              <a:gd name="adj" fmla="val 6525"/>
            </a:avLst>
          </a:prstGeom>
          <a:solidFill>
            <a:srgbClr val="15213A"/>
          </a:solidFill>
          <a:ln/>
        </p:spPr>
        <p:txBody>
          <a:bodyPr/>
          <a:lstStyle/>
          <a:p>
            <a:endParaRPr lang="pt-BR"/>
          </a:p>
        </p:txBody>
      </p:sp>
      <p:sp>
        <p:nvSpPr>
          <p:cNvPr id="15" name="Text 13"/>
          <p:cNvSpPr/>
          <p:nvPr/>
        </p:nvSpPr>
        <p:spPr>
          <a:xfrm>
            <a:off x="9144000" y="2703830"/>
            <a:ext cx="2040636"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2A23A"/>
                </a:solidFill>
                <a:latin typeface="DM Sans" pitchFamily="34" charset="0"/>
                <a:ea typeface="DM Sans" pitchFamily="34" charset="-122"/>
                <a:cs typeface="DM Sans" pitchFamily="34" charset="-120"/>
              </a:rPr>
              <a:t>10</a:t>
            </a:r>
            <a:endParaRPr lang="en-US" sz="3600" dirty="0"/>
          </a:p>
        </p:txBody>
      </p:sp>
      <p:sp>
        <p:nvSpPr>
          <p:cNvPr id="16" name="Text 14"/>
          <p:cNvSpPr/>
          <p:nvPr/>
        </p:nvSpPr>
        <p:spPr>
          <a:xfrm>
            <a:off x="9144000" y="3257550"/>
            <a:ext cx="204063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DM Sans" pitchFamily="34" charset="0"/>
                <a:ea typeface="DM Sans" pitchFamily="34" charset="-122"/>
                <a:cs typeface="DM Sans" pitchFamily="34" charset="-120"/>
              </a:rPr>
              <a:t>maiores categorias</a:t>
            </a:r>
            <a:endParaRPr lang="en-US" sz="1400" dirty="0"/>
          </a:p>
        </p:txBody>
      </p:sp>
      <p:sp>
        <p:nvSpPr>
          <p:cNvPr id="17" name="Shape 15"/>
          <p:cNvSpPr/>
          <p:nvPr/>
        </p:nvSpPr>
        <p:spPr>
          <a:xfrm>
            <a:off x="6248400" y="4036061"/>
            <a:ext cx="2489200" cy="1805940"/>
          </a:xfrm>
          <a:prstGeom prst="roundRect">
            <a:avLst>
              <a:gd name="adj" fmla="val 5626"/>
            </a:avLst>
          </a:prstGeom>
          <a:solidFill>
            <a:srgbClr val="15213A"/>
          </a:solidFill>
          <a:ln/>
        </p:spPr>
        <p:txBody>
          <a:bodyPr/>
          <a:lstStyle/>
          <a:p>
            <a:endParaRPr lang="pt-BR"/>
          </a:p>
        </p:txBody>
      </p:sp>
      <p:sp>
        <p:nvSpPr>
          <p:cNvPr id="18" name="Text 16"/>
          <p:cNvSpPr/>
          <p:nvPr/>
        </p:nvSpPr>
        <p:spPr>
          <a:xfrm>
            <a:off x="6502400" y="4537711"/>
            <a:ext cx="2040636"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2A23A"/>
                </a:solidFill>
                <a:latin typeface="DM Sans" pitchFamily="34" charset="0"/>
                <a:ea typeface="DM Sans" pitchFamily="34" charset="-122"/>
                <a:cs typeface="DM Sans" pitchFamily="34" charset="-120"/>
              </a:rPr>
              <a:t>≈ 2.300</a:t>
            </a:r>
            <a:endParaRPr lang="en-US" sz="3600" dirty="0"/>
          </a:p>
        </p:txBody>
      </p:sp>
      <p:sp>
        <p:nvSpPr>
          <p:cNvPr id="19" name="Text 17"/>
          <p:cNvSpPr/>
          <p:nvPr/>
        </p:nvSpPr>
        <p:spPr>
          <a:xfrm>
            <a:off x="6502400" y="5091430"/>
            <a:ext cx="204063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DM Sans" pitchFamily="34" charset="0"/>
                <a:ea typeface="DM Sans" pitchFamily="34" charset="-122"/>
                <a:cs typeface="DM Sans" pitchFamily="34" charset="-120"/>
              </a:rPr>
              <a:t>unidades por semana</a:t>
            </a:r>
            <a:endParaRPr lang="en-US" sz="1400" dirty="0"/>
          </a:p>
        </p:txBody>
      </p:sp>
      <p:sp>
        <p:nvSpPr>
          <p:cNvPr id="20" name="Shape 18"/>
          <p:cNvSpPr/>
          <p:nvPr/>
        </p:nvSpPr>
        <p:spPr>
          <a:xfrm>
            <a:off x="8890000" y="4036061"/>
            <a:ext cx="2489200" cy="1805940"/>
          </a:xfrm>
          <a:prstGeom prst="roundRect">
            <a:avLst>
              <a:gd name="adj" fmla="val 5626"/>
            </a:avLst>
          </a:prstGeom>
          <a:solidFill>
            <a:srgbClr val="15213A"/>
          </a:solidFill>
          <a:ln/>
        </p:spPr>
        <p:txBody>
          <a:bodyPr/>
          <a:lstStyle/>
          <a:p>
            <a:endParaRPr lang="pt-BR"/>
          </a:p>
        </p:txBody>
      </p:sp>
      <p:sp>
        <p:nvSpPr>
          <p:cNvPr id="21" name="Text 19"/>
          <p:cNvSpPr/>
          <p:nvPr/>
        </p:nvSpPr>
        <p:spPr>
          <a:xfrm>
            <a:off x="9144000" y="4413250"/>
            <a:ext cx="2040636"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2A23A"/>
                </a:solidFill>
                <a:latin typeface="DM Sans" pitchFamily="34" charset="0"/>
                <a:ea typeface="DM Sans" pitchFamily="34" charset="-122"/>
                <a:cs typeface="DM Sans" pitchFamily="34" charset="-120"/>
              </a:rPr>
              <a:t>158</a:t>
            </a:r>
            <a:endParaRPr lang="en-US" sz="3600" dirty="0"/>
          </a:p>
        </p:txBody>
      </p:sp>
      <p:sp>
        <p:nvSpPr>
          <p:cNvPr id="22" name="Text 20"/>
          <p:cNvSpPr/>
          <p:nvPr/>
        </p:nvSpPr>
        <p:spPr>
          <a:xfrm>
            <a:off x="9144000" y="4966970"/>
            <a:ext cx="204063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DM Sans" pitchFamily="34" charset="0"/>
                <a:ea typeface="DM Sans" pitchFamily="34" charset="-122"/>
                <a:cs typeface="DM Sans" pitchFamily="34" charset="-120"/>
              </a:rPr>
              <a:t>semanas, jan/2015 a jan/2018</a:t>
            </a:r>
            <a:endParaRPr lang="en-US" sz="1400" dirty="0"/>
          </a:p>
        </p:txBody>
      </p:sp>
      <p:sp>
        <p:nvSpPr>
          <p:cNvPr id="23" name="Text 21"/>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Fonte: DataCo Smart Supply Chain (Kaggle), pedidos sem cancelados e suspeitos de fraude</a:t>
            </a:r>
            <a:endParaRPr lang="en-US" sz="1200" dirty="0"/>
          </a:p>
        </p:txBody>
      </p:sp>
      <p:sp>
        <p:nvSpPr>
          <p:cNvPr id="24" name="Text 22"/>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A SOLUÇÃO</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O MLflow dentro da stack da Aula 4</a:t>
            </a:r>
            <a:endParaRPr lang="en-US" sz="3200" dirty="0"/>
          </a:p>
        </p:txBody>
      </p:sp>
      <p:sp>
        <p:nvSpPr>
          <p:cNvPr id="4" name="Shape 2"/>
          <p:cNvSpPr/>
          <p:nvPr/>
        </p:nvSpPr>
        <p:spPr>
          <a:xfrm>
            <a:off x="815975" y="1989455"/>
            <a:ext cx="1706563" cy="867410"/>
          </a:xfrm>
          <a:prstGeom prst="roundRect">
            <a:avLst>
              <a:gd name="adj" fmla="val 8419"/>
            </a:avLst>
          </a:prstGeom>
          <a:solidFill>
            <a:srgbClr val="FDFDFA"/>
          </a:solidFill>
          <a:ln w="6350">
            <a:solidFill>
              <a:srgbClr val="DEDBD2"/>
            </a:solidFill>
            <a:prstDash val="solid"/>
          </a:ln>
        </p:spPr>
        <p:txBody>
          <a:bodyPr/>
          <a:lstStyle/>
          <a:p>
            <a:endParaRPr lang="pt-BR"/>
          </a:p>
        </p:txBody>
      </p:sp>
      <p:sp>
        <p:nvSpPr>
          <p:cNvPr id="5" name="Text 3"/>
          <p:cNvSpPr/>
          <p:nvPr/>
        </p:nvSpPr>
        <p:spPr>
          <a:xfrm>
            <a:off x="995680" y="2169161"/>
            <a:ext cx="13979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CSV DataCo</a:t>
            </a:r>
            <a:endParaRPr lang="en-US" sz="1600" dirty="0"/>
          </a:p>
        </p:txBody>
      </p:sp>
      <p:sp>
        <p:nvSpPr>
          <p:cNvPr id="6" name="Text 4"/>
          <p:cNvSpPr/>
          <p:nvPr/>
        </p:nvSpPr>
        <p:spPr>
          <a:xfrm>
            <a:off x="995680" y="2463800"/>
            <a:ext cx="13979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180 mil pedidos</a:t>
            </a:r>
            <a:endParaRPr lang="en-US" sz="1200" dirty="0"/>
          </a:p>
        </p:txBody>
      </p:sp>
      <p:pic>
        <p:nvPicPr>
          <p:cNvPr id="7" name="Image 0" descr="arrow-right"/>
          <p:cNvPicPr>
            <a:picLocks noChangeAspect="1"/>
          </p:cNvPicPr>
          <p:nvPr/>
        </p:nvPicPr>
        <p:blipFill>
          <a:blip r:embed="rId3"/>
          <a:srcRect/>
          <a:stretch/>
        </p:blipFill>
        <p:spPr>
          <a:xfrm>
            <a:off x="2627313" y="2334261"/>
            <a:ext cx="304800" cy="177800"/>
          </a:xfrm>
          <a:prstGeom prst="rect">
            <a:avLst/>
          </a:prstGeom>
        </p:spPr>
      </p:pic>
      <p:sp>
        <p:nvSpPr>
          <p:cNvPr id="8" name="Shape 5"/>
          <p:cNvSpPr/>
          <p:nvPr/>
        </p:nvSpPr>
        <p:spPr>
          <a:xfrm>
            <a:off x="3033713" y="1991361"/>
            <a:ext cx="1702832" cy="863600"/>
          </a:xfrm>
          <a:prstGeom prst="roundRect">
            <a:avLst>
              <a:gd name="adj" fmla="val 8824"/>
            </a:avLst>
          </a:prstGeom>
          <a:solidFill>
            <a:srgbClr val="15213A"/>
          </a:solidFill>
          <a:ln/>
        </p:spPr>
        <p:txBody>
          <a:bodyPr/>
          <a:lstStyle/>
          <a:p>
            <a:endParaRPr lang="pt-BR"/>
          </a:p>
        </p:txBody>
      </p:sp>
      <p:sp>
        <p:nvSpPr>
          <p:cNvPr id="9" name="Text 6"/>
          <p:cNvSpPr/>
          <p:nvPr/>
        </p:nvSpPr>
        <p:spPr>
          <a:xfrm>
            <a:off x="3211513" y="2169161"/>
            <a:ext cx="139803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23A"/>
                </a:solidFill>
                <a:latin typeface="DM Sans" pitchFamily="34" charset="0"/>
                <a:ea typeface="DM Sans" pitchFamily="34" charset="-122"/>
                <a:cs typeface="DM Sans" pitchFamily="34" charset="-120"/>
              </a:rPr>
              <a:t>Airflow</a:t>
            </a:r>
            <a:endParaRPr lang="en-US" sz="1600" dirty="0"/>
          </a:p>
        </p:txBody>
      </p:sp>
      <p:sp>
        <p:nvSpPr>
          <p:cNvPr id="10" name="Text 7"/>
          <p:cNvSpPr/>
          <p:nvPr/>
        </p:nvSpPr>
        <p:spPr>
          <a:xfrm>
            <a:off x="3211513" y="2463800"/>
            <a:ext cx="15250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orquestra 7 etapas</a:t>
            </a:r>
            <a:endParaRPr lang="en-US" sz="1200" dirty="0"/>
          </a:p>
        </p:txBody>
      </p:sp>
      <p:pic>
        <p:nvPicPr>
          <p:cNvPr id="11" name="Image 1" descr="arrow-right"/>
          <p:cNvPicPr>
            <a:picLocks noChangeAspect="1"/>
          </p:cNvPicPr>
          <p:nvPr/>
        </p:nvPicPr>
        <p:blipFill>
          <a:blip r:embed="rId3"/>
          <a:srcRect/>
          <a:stretch/>
        </p:blipFill>
        <p:spPr>
          <a:xfrm>
            <a:off x="4838145" y="2334261"/>
            <a:ext cx="304800" cy="177800"/>
          </a:xfrm>
          <a:prstGeom prst="rect">
            <a:avLst/>
          </a:prstGeom>
        </p:spPr>
      </p:pic>
      <p:sp>
        <p:nvSpPr>
          <p:cNvPr id="12" name="Shape 8"/>
          <p:cNvSpPr/>
          <p:nvPr/>
        </p:nvSpPr>
        <p:spPr>
          <a:xfrm>
            <a:off x="5244545" y="1991361"/>
            <a:ext cx="1702832" cy="863600"/>
          </a:xfrm>
          <a:prstGeom prst="roundRect">
            <a:avLst>
              <a:gd name="adj" fmla="val 8824"/>
            </a:avLst>
          </a:prstGeom>
          <a:solidFill>
            <a:srgbClr val="15213A"/>
          </a:solidFill>
          <a:ln/>
        </p:spPr>
        <p:txBody>
          <a:bodyPr/>
          <a:lstStyle/>
          <a:p>
            <a:endParaRPr lang="pt-BR"/>
          </a:p>
        </p:txBody>
      </p:sp>
      <p:sp>
        <p:nvSpPr>
          <p:cNvPr id="13" name="Text 9"/>
          <p:cNvSpPr/>
          <p:nvPr/>
        </p:nvSpPr>
        <p:spPr>
          <a:xfrm>
            <a:off x="5422345" y="2169161"/>
            <a:ext cx="139803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23A"/>
                </a:solidFill>
                <a:latin typeface="DM Sans" pitchFamily="34" charset="0"/>
                <a:ea typeface="DM Sans" pitchFamily="34" charset="-122"/>
                <a:cs typeface="DM Sans" pitchFamily="34" charset="-120"/>
              </a:rPr>
              <a:t>MLflow</a:t>
            </a:r>
            <a:endParaRPr lang="en-US" sz="1600" dirty="0"/>
          </a:p>
        </p:txBody>
      </p:sp>
      <p:sp>
        <p:nvSpPr>
          <p:cNvPr id="14" name="Text 10"/>
          <p:cNvSpPr/>
          <p:nvPr/>
        </p:nvSpPr>
        <p:spPr>
          <a:xfrm>
            <a:off x="5422345" y="2463800"/>
            <a:ext cx="13980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rastreia e versiona</a:t>
            </a:r>
            <a:endParaRPr lang="en-US" sz="1200" dirty="0"/>
          </a:p>
        </p:txBody>
      </p:sp>
      <p:pic>
        <p:nvPicPr>
          <p:cNvPr id="15" name="Image 2" descr="arrow-right"/>
          <p:cNvPicPr>
            <a:picLocks noChangeAspect="1"/>
          </p:cNvPicPr>
          <p:nvPr/>
        </p:nvPicPr>
        <p:blipFill>
          <a:blip r:embed="rId3"/>
          <a:srcRect/>
          <a:stretch/>
        </p:blipFill>
        <p:spPr>
          <a:xfrm>
            <a:off x="7048977" y="2334261"/>
            <a:ext cx="304800" cy="177800"/>
          </a:xfrm>
          <a:prstGeom prst="rect">
            <a:avLst/>
          </a:prstGeom>
        </p:spPr>
      </p:pic>
      <p:sp>
        <p:nvSpPr>
          <p:cNvPr id="16" name="Shape 11"/>
          <p:cNvSpPr/>
          <p:nvPr/>
        </p:nvSpPr>
        <p:spPr>
          <a:xfrm>
            <a:off x="7458552" y="1882775"/>
            <a:ext cx="1706642" cy="1080770"/>
          </a:xfrm>
          <a:prstGeom prst="roundRect">
            <a:avLst>
              <a:gd name="adj" fmla="val 6757"/>
            </a:avLst>
          </a:prstGeom>
          <a:solidFill>
            <a:srgbClr val="FDFDFA"/>
          </a:solidFill>
          <a:ln w="6350">
            <a:solidFill>
              <a:srgbClr val="DEDBD2"/>
            </a:solidFill>
            <a:prstDash val="solid"/>
          </a:ln>
        </p:spPr>
        <p:txBody>
          <a:bodyPr/>
          <a:lstStyle/>
          <a:p>
            <a:endParaRPr lang="pt-BR"/>
          </a:p>
        </p:txBody>
      </p:sp>
      <p:sp>
        <p:nvSpPr>
          <p:cNvPr id="17" name="Text 12"/>
          <p:cNvSpPr/>
          <p:nvPr/>
        </p:nvSpPr>
        <p:spPr>
          <a:xfrm>
            <a:off x="7638256" y="2062480"/>
            <a:ext cx="139803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Postgres</a:t>
            </a:r>
            <a:endParaRPr lang="en-US" sz="1600" dirty="0"/>
          </a:p>
        </p:txBody>
      </p:sp>
      <p:sp>
        <p:nvSpPr>
          <p:cNvPr id="18" name="Text 13"/>
          <p:cNvSpPr/>
          <p:nvPr/>
        </p:nvSpPr>
        <p:spPr>
          <a:xfrm>
            <a:off x="7638256" y="2357120"/>
            <a:ext cx="139803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previsões e decisões</a:t>
            </a:r>
            <a:endParaRPr lang="en-US" sz="1200" dirty="0"/>
          </a:p>
        </p:txBody>
      </p:sp>
      <p:pic>
        <p:nvPicPr>
          <p:cNvPr id="19" name="Image 3" descr="arrow-right"/>
          <p:cNvPicPr>
            <a:picLocks noChangeAspect="1"/>
          </p:cNvPicPr>
          <p:nvPr/>
        </p:nvPicPr>
        <p:blipFill>
          <a:blip r:embed="rId3"/>
          <a:srcRect/>
          <a:stretch/>
        </p:blipFill>
        <p:spPr>
          <a:xfrm>
            <a:off x="9269968" y="2334261"/>
            <a:ext cx="304800" cy="177800"/>
          </a:xfrm>
          <a:prstGeom prst="rect">
            <a:avLst/>
          </a:prstGeom>
        </p:spPr>
      </p:pic>
      <p:sp>
        <p:nvSpPr>
          <p:cNvPr id="20" name="Shape 14"/>
          <p:cNvSpPr/>
          <p:nvPr/>
        </p:nvSpPr>
        <p:spPr>
          <a:xfrm>
            <a:off x="9676368" y="1991361"/>
            <a:ext cx="1702832" cy="863600"/>
          </a:xfrm>
          <a:prstGeom prst="roundRect">
            <a:avLst>
              <a:gd name="adj" fmla="val 8824"/>
            </a:avLst>
          </a:prstGeom>
          <a:solidFill>
            <a:srgbClr val="15213A"/>
          </a:solidFill>
          <a:ln/>
        </p:spPr>
        <p:txBody>
          <a:bodyPr/>
          <a:lstStyle/>
          <a:p>
            <a:endParaRPr lang="pt-BR"/>
          </a:p>
        </p:txBody>
      </p:sp>
      <p:sp>
        <p:nvSpPr>
          <p:cNvPr id="21" name="Text 15"/>
          <p:cNvSpPr/>
          <p:nvPr/>
        </p:nvSpPr>
        <p:spPr>
          <a:xfrm>
            <a:off x="9854168" y="2169161"/>
            <a:ext cx="139803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23A"/>
                </a:solidFill>
                <a:latin typeface="DM Sans" pitchFamily="34" charset="0"/>
                <a:ea typeface="DM Sans" pitchFamily="34" charset="-122"/>
                <a:cs typeface="DM Sans" pitchFamily="34" charset="-120"/>
              </a:rPr>
              <a:t>Grafana</a:t>
            </a:r>
            <a:endParaRPr lang="en-US" sz="1600" dirty="0"/>
          </a:p>
        </p:txBody>
      </p:sp>
      <p:sp>
        <p:nvSpPr>
          <p:cNvPr id="22" name="Text 16"/>
          <p:cNvSpPr/>
          <p:nvPr/>
        </p:nvSpPr>
        <p:spPr>
          <a:xfrm>
            <a:off x="9854168" y="2463800"/>
            <a:ext cx="13980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monitora</a:t>
            </a:r>
            <a:endParaRPr lang="en-US" sz="1200" dirty="0"/>
          </a:p>
        </p:txBody>
      </p:sp>
      <p:sp>
        <p:nvSpPr>
          <p:cNvPr id="23" name="Shape 17"/>
          <p:cNvSpPr/>
          <p:nvPr/>
        </p:nvSpPr>
        <p:spPr>
          <a:xfrm>
            <a:off x="815975" y="3274695"/>
            <a:ext cx="2520950" cy="1725930"/>
          </a:xfrm>
          <a:prstGeom prst="roundRect">
            <a:avLst>
              <a:gd name="adj" fmla="val 4231"/>
            </a:avLst>
          </a:prstGeom>
          <a:solidFill>
            <a:srgbClr val="FDFDFA"/>
          </a:solidFill>
          <a:ln w="6350">
            <a:solidFill>
              <a:srgbClr val="DEDBD2"/>
            </a:solidFill>
            <a:prstDash val="solid"/>
          </a:ln>
        </p:spPr>
        <p:txBody>
          <a:bodyPr/>
          <a:lstStyle/>
          <a:p>
            <a:endParaRPr lang="pt-BR"/>
          </a:p>
        </p:txBody>
      </p:sp>
      <p:sp>
        <p:nvSpPr>
          <p:cNvPr id="24" name="Text 18"/>
          <p:cNvSpPr/>
          <p:nvPr/>
        </p:nvSpPr>
        <p:spPr>
          <a:xfrm>
            <a:off x="1021080" y="3479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D6B7C"/>
                </a:solidFill>
                <a:latin typeface="DM Sans" pitchFamily="34" charset="0"/>
                <a:ea typeface="DM Sans" pitchFamily="34" charset="-122"/>
                <a:cs typeface="DM Sans" pitchFamily="34" charset="-120"/>
              </a:rPr>
              <a:t>AULA 1</a:t>
            </a:r>
            <a:endParaRPr lang="en-US" sz="1200" dirty="0"/>
          </a:p>
        </p:txBody>
      </p:sp>
      <p:sp>
        <p:nvSpPr>
          <p:cNvPr id="25" name="Text 19"/>
          <p:cNvSpPr/>
          <p:nvPr/>
        </p:nvSpPr>
        <p:spPr>
          <a:xfrm>
            <a:off x="1021080" y="3769361"/>
            <a:ext cx="217406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MLflow + Optuna</a:t>
            </a:r>
            <a:endParaRPr lang="en-US" sz="1600" dirty="0"/>
          </a:p>
        </p:txBody>
      </p:sp>
      <p:sp>
        <p:nvSpPr>
          <p:cNvPr id="26" name="Text 20"/>
          <p:cNvSpPr/>
          <p:nvPr/>
        </p:nvSpPr>
        <p:spPr>
          <a:xfrm>
            <a:off x="1021080" y="4089400"/>
            <a:ext cx="217406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Tentativas rastreadas e modelo no Registry</a:t>
            </a:r>
            <a:endParaRPr lang="en-US" sz="1300" dirty="0"/>
          </a:p>
        </p:txBody>
      </p:sp>
      <p:sp>
        <p:nvSpPr>
          <p:cNvPr id="27" name="Shape 21"/>
          <p:cNvSpPr/>
          <p:nvPr/>
        </p:nvSpPr>
        <p:spPr>
          <a:xfrm>
            <a:off x="3495675" y="3274695"/>
            <a:ext cx="2520950" cy="1725930"/>
          </a:xfrm>
          <a:prstGeom prst="roundRect">
            <a:avLst>
              <a:gd name="adj" fmla="val 4231"/>
            </a:avLst>
          </a:prstGeom>
          <a:solidFill>
            <a:srgbClr val="FDFDFA"/>
          </a:solidFill>
          <a:ln w="6350">
            <a:solidFill>
              <a:srgbClr val="DEDBD2"/>
            </a:solidFill>
            <a:prstDash val="solid"/>
          </a:ln>
        </p:spPr>
        <p:txBody>
          <a:bodyPr/>
          <a:lstStyle/>
          <a:p>
            <a:endParaRPr lang="pt-BR"/>
          </a:p>
        </p:txBody>
      </p:sp>
      <p:sp>
        <p:nvSpPr>
          <p:cNvPr id="28" name="Text 22"/>
          <p:cNvSpPr/>
          <p:nvPr/>
        </p:nvSpPr>
        <p:spPr>
          <a:xfrm>
            <a:off x="3700780" y="3479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D6B7C"/>
                </a:solidFill>
                <a:latin typeface="DM Sans" pitchFamily="34" charset="0"/>
                <a:ea typeface="DM Sans" pitchFamily="34" charset="-122"/>
                <a:cs typeface="DM Sans" pitchFamily="34" charset="-120"/>
              </a:rPr>
              <a:t>AULA 2</a:t>
            </a:r>
            <a:endParaRPr lang="en-US" sz="1200" dirty="0"/>
          </a:p>
        </p:txBody>
      </p:sp>
      <p:sp>
        <p:nvSpPr>
          <p:cNvPr id="29" name="Text 23"/>
          <p:cNvSpPr/>
          <p:nvPr/>
        </p:nvSpPr>
        <p:spPr>
          <a:xfrm>
            <a:off x="3700780" y="3769361"/>
            <a:ext cx="217406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Postgres em Docker</a:t>
            </a:r>
            <a:endParaRPr lang="en-US" sz="1600" dirty="0"/>
          </a:p>
        </p:txBody>
      </p:sp>
      <p:sp>
        <p:nvSpPr>
          <p:cNvPr id="30" name="Text 24"/>
          <p:cNvSpPr/>
          <p:nvPr/>
        </p:nvSpPr>
        <p:spPr>
          <a:xfrm>
            <a:off x="3700780" y="4089400"/>
            <a:ext cx="217406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Pipeline em etapas sobre um banco</a:t>
            </a:r>
            <a:endParaRPr lang="en-US" sz="1300" dirty="0"/>
          </a:p>
        </p:txBody>
      </p:sp>
      <p:sp>
        <p:nvSpPr>
          <p:cNvPr id="31" name="Shape 25"/>
          <p:cNvSpPr/>
          <p:nvPr/>
        </p:nvSpPr>
        <p:spPr>
          <a:xfrm>
            <a:off x="6175375" y="3274695"/>
            <a:ext cx="2520950" cy="1725930"/>
          </a:xfrm>
          <a:prstGeom prst="roundRect">
            <a:avLst>
              <a:gd name="adj" fmla="val 4231"/>
            </a:avLst>
          </a:prstGeom>
          <a:solidFill>
            <a:srgbClr val="FDFDFA"/>
          </a:solidFill>
          <a:ln w="6350">
            <a:solidFill>
              <a:srgbClr val="DEDBD2"/>
            </a:solidFill>
            <a:prstDash val="solid"/>
          </a:ln>
        </p:spPr>
        <p:txBody>
          <a:bodyPr/>
          <a:lstStyle/>
          <a:p>
            <a:endParaRPr lang="pt-BR"/>
          </a:p>
        </p:txBody>
      </p:sp>
      <p:sp>
        <p:nvSpPr>
          <p:cNvPr id="32" name="Text 26"/>
          <p:cNvSpPr/>
          <p:nvPr/>
        </p:nvSpPr>
        <p:spPr>
          <a:xfrm>
            <a:off x="6380480" y="3479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D6B7C"/>
                </a:solidFill>
                <a:latin typeface="DM Sans" pitchFamily="34" charset="0"/>
                <a:ea typeface="DM Sans" pitchFamily="34" charset="-122"/>
                <a:cs typeface="DM Sans" pitchFamily="34" charset="-120"/>
              </a:rPr>
              <a:t>AULA 3</a:t>
            </a:r>
            <a:endParaRPr lang="en-US" sz="1200" dirty="0"/>
          </a:p>
        </p:txBody>
      </p:sp>
      <p:sp>
        <p:nvSpPr>
          <p:cNvPr id="33" name="Text 27"/>
          <p:cNvSpPr/>
          <p:nvPr/>
        </p:nvSpPr>
        <p:spPr>
          <a:xfrm>
            <a:off x="6380480" y="3769361"/>
            <a:ext cx="2174062"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Feature store e testes</a:t>
            </a:r>
            <a:endParaRPr lang="en-US" sz="1600" dirty="0"/>
          </a:p>
        </p:txBody>
      </p:sp>
      <p:sp>
        <p:nvSpPr>
          <p:cNvPr id="34" name="Text 28"/>
          <p:cNvSpPr/>
          <p:nvPr/>
        </p:nvSpPr>
        <p:spPr>
          <a:xfrm>
            <a:off x="6380480" y="4333241"/>
            <a:ext cx="217406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Demanda semanal com lags e 13 testes</a:t>
            </a:r>
            <a:endParaRPr lang="en-US" sz="1300" dirty="0"/>
          </a:p>
        </p:txBody>
      </p:sp>
      <p:sp>
        <p:nvSpPr>
          <p:cNvPr id="35" name="Shape 29"/>
          <p:cNvSpPr/>
          <p:nvPr/>
        </p:nvSpPr>
        <p:spPr>
          <a:xfrm>
            <a:off x="8855075" y="3274695"/>
            <a:ext cx="2520950" cy="1725930"/>
          </a:xfrm>
          <a:prstGeom prst="roundRect">
            <a:avLst>
              <a:gd name="adj" fmla="val 4231"/>
            </a:avLst>
          </a:prstGeom>
          <a:solidFill>
            <a:srgbClr val="FDFDFA"/>
          </a:solidFill>
          <a:ln w="6350">
            <a:solidFill>
              <a:srgbClr val="DEDBD2"/>
            </a:solidFill>
            <a:prstDash val="solid"/>
          </a:ln>
        </p:spPr>
        <p:txBody>
          <a:bodyPr/>
          <a:lstStyle/>
          <a:p>
            <a:endParaRPr lang="pt-BR"/>
          </a:p>
        </p:txBody>
      </p:sp>
      <p:sp>
        <p:nvSpPr>
          <p:cNvPr id="36" name="Text 30"/>
          <p:cNvSpPr/>
          <p:nvPr/>
        </p:nvSpPr>
        <p:spPr>
          <a:xfrm>
            <a:off x="9060180" y="3479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D6B7C"/>
                </a:solidFill>
                <a:latin typeface="DM Sans" pitchFamily="34" charset="0"/>
                <a:ea typeface="DM Sans" pitchFamily="34" charset="-122"/>
                <a:cs typeface="DM Sans" pitchFamily="34" charset="-120"/>
              </a:rPr>
              <a:t>AULA 4</a:t>
            </a:r>
            <a:endParaRPr lang="en-US" sz="1200" dirty="0"/>
          </a:p>
        </p:txBody>
      </p:sp>
      <p:sp>
        <p:nvSpPr>
          <p:cNvPr id="37" name="Text 31"/>
          <p:cNvSpPr/>
          <p:nvPr/>
        </p:nvSpPr>
        <p:spPr>
          <a:xfrm>
            <a:off x="9060180" y="3769361"/>
            <a:ext cx="217406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Airflow + Grafana</a:t>
            </a:r>
            <a:endParaRPr lang="en-US" sz="1600" dirty="0"/>
          </a:p>
        </p:txBody>
      </p:sp>
      <p:sp>
        <p:nvSpPr>
          <p:cNvPr id="38" name="Text 32"/>
          <p:cNvSpPr/>
          <p:nvPr/>
        </p:nvSpPr>
        <p:spPr>
          <a:xfrm>
            <a:off x="9060180" y="4089400"/>
            <a:ext cx="217406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Mesmo compose, sem RAG, com MLflow</a:t>
            </a:r>
            <a:endParaRPr lang="en-US" sz="1300" dirty="0"/>
          </a:p>
        </p:txBody>
      </p:sp>
      <p:sp>
        <p:nvSpPr>
          <p:cNvPr id="39" name="Text 3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40" name="Text 3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AIRFLOW · AULA 4</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Uma DAG, sete etapas, nenhum passo manual</a:t>
            </a:r>
            <a:endParaRPr lang="en-US" sz="3200" dirty="0"/>
          </a:p>
        </p:txBody>
      </p:sp>
      <p:sp>
        <p:nvSpPr>
          <p:cNvPr id="4" name="Shape 2"/>
          <p:cNvSpPr/>
          <p:nvPr/>
        </p:nvSpPr>
        <p:spPr>
          <a:xfrm>
            <a:off x="812800" y="1879600"/>
            <a:ext cx="6604000" cy="3352800"/>
          </a:xfrm>
          <a:prstGeom prst="roundRect">
            <a:avLst>
              <a:gd name="adj" fmla="val 2273"/>
            </a:avLst>
          </a:prstGeom>
          <a:solidFill>
            <a:srgbClr val="FFFFFF"/>
          </a:solidFill>
          <a:ln/>
        </p:spPr>
        <p:txBody>
          <a:bodyPr/>
          <a:lstStyle/>
          <a:p>
            <a:endParaRPr lang="pt-BR"/>
          </a:p>
        </p:txBody>
      </p:sp>
      <p:pic>
        <p:nvPicPr>
          <p:cNvPr id="5" name="Image 0" descr="Grafo da DAG pipeline_demanda_dataco no Airflow com as sete tarefas concluídas com sucesso"/>
          <p:cNvPicPr>
            <a:picLocks noChangeAspect="1"/>
          </p:cNvPicPr>
          <p:nvPr/>
        </p:nvPicPr>
        <p:blipFill>
          <a:blip r:embed="rId3"/>
          <a:srcRect l="-106" r="-106"/>
          <a:stretch/>
        </p:blipFill>
        <p:spPr>
          <a:xfrm>
            <a:off x="819150" y="1885950"/>
            <a:ext cx="6591300" cy="3340100"/>
          </a:xfrm>
          <a:prstGeom prst="roundRect">
            <a:avLst>
              <a:gd name="adj" fmla="val 2091"/>
            </a:avLst>
          </a:prstGeom>
        </p:spPr>
      </p:pic>
      <p:sp>
        <p:nvSpPr>
          <p:cNvPr id="6" name="Shape 3"/>
          <p:cNvSpPr/>
          <p:nvPr/>
        </p:nvSpPr>
        <p:spPr>
          <a:xfrm>
            <a:off x="815975" y="1882775"/>
            <a:ext cx="6597650" cy="3346450"/>
          </a:xfrm>
          <a:prstGeom prst="roundRect">
            <a:avLst>
              <a:gd name="adj" fmla="val 2182"/>
            </a:avLst>
          </a:prstGeom>
          <a:noFill/>
          <a:ln w="6350">
            <a:solidFill>
              <a:srgbClr val="DEDBD2"/>
            </a:solidFill>
            <a:prstDash val="solid"/>
          </a:ln>
        </p:spPr>
        <p:txBody>
          <a:bodyPr/>
          <a:lstStyle/>
          <a:p>
            <a:endParaRPr lang="pt-BR"/>
          </a:p>
        </p:txBody>
      </p:sp>
      <p:sp>
        <p:nvSpPr>
          <p:cNvPr id="7" name="Text 4"/>
          <p:cNvSpPr/>
          <p:nvPr/>
        </p:nvSpPr>
        <p:spPr>
          <a:xfrm>
            <a:off x="7721600" y="1879600"/>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1 · testes_unitarios</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13 testes; se falhar, o pipeline para</a:t>
            </a:r>
            <a:endParaRPr lang="en-US" sz="1300" dirty="0"/>
          </a:p>
        </p:txBody>
      </p:sp>
      <p:sp>
        <p:nvSpPr>
          <p:cNvPr id="8" name="Text 5"/>
          <p:cNvSpPr/>
          <p:nvPr/>
        </p:nvSpPr>
        <p:spPr>
          <a:xfrm>
            <a:off x="7721600" y="2397761"/>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2 · ingere_dados</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180.519 pedidos para o Postgres</a:t>
            </a:r>
            <a:endParaRPr lang="en-US" sz="1300" dirty="0"/>
          </a:p>
        </p:txBody>
      </p:sp>
      <p:sp>
        <p:nvSpPr>
          <p:cNvPr id="9" name="Text 6"/>
          <p:cNvSpPr/>
          <p:nvPr/>
        </p:nvSpPr>
        <p:spPr>
          <a:xfrm>
            <a:off x="7721600" y="2915921"/>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3 · gera_features</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Demanda semanal com lags</a:t>
            </a:r>
            <a:endParaRPr lang="en-US" sz="1300" dirty="0"/>
          </a:p>
        </p:txBody>
      </p:sp>
      <p:sp>
        <p:nvSpPr>
          <p:cNvPr id="10" name="Text 7"/>
          <p:cNvSpPr/>
          <p:nvPr/>
        </p:nvSpPr>
        <p:spPr>
          <a:xfrm>
            <a:off x="7721600" y="3434082"/>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4 · valida_dados</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Nulos, negativos, histórico mínimo</a:t>
            </a:r>
            <a:endParaRPr lang="en-US" sz="1300" dirty="0"/>
          </a:p>
        </p:txBody>
      </p:sp>
      <p:sp>
        <p:nvSpPr>
          <p:cNvPr id="11" name="Text 8"/>
          <p:cNvSpPr/>
          <p:nvPr/>
        </p:nvSpPr>
        <p:spPr>
          <a:xfrm>
            <a:off x="7721600" y="3952239"/>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5 · treina_modelo</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XGBoost + Optuna, tudo no MLflow</a:t>
            </a:r>
            <a:endParaRPr lang="en-US" sz="1300" dirty="0"/>
          </a:p>
        </p:txBody>
      </p:sp>
      <p:sp>
        <p:nvSpPr>
          <p:cNvPr id="12" name="Text 9"/>
          <p:cNvSpPr/>
          <p:nvPr/>
        </p:nvSpPr>
        <p:spPr>
          <a:xfrm>
            <a:off x="7721600" y="4470400"/>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6 · avalia_e_promove</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O gate decide no Model Registry</a:t>
            </a:r>
            <a:endParaRPr lang="en-US" sz="1300" dirty="0"/>
          </a:p>
        </p:txBody>
      </p:sp>
      <p:sp>
        <p:nvSpPr>
          <p:cNvPr id="13" name="Text 10"/>
          <p:cNvSpPr/>
          <p:nvPr/>
        </p:nvSpPr>
        <p:spPr>
          <a:xfrm>
            <a:off x="7721600" y="4988561"/>
            <a:ext cx="3767328"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5213A"/>
                </a:solidFill>
                <a:latin typeface="DM Sans" pitchFamily="34" charset="0"/>
                <a:ea typeface="DM Sans" pitchFamily="34" charset="-122"/>
                <a:cs typeface="DM Sans" pitchFamily="34" charset="-120"/>
              </a:rPr>
              <a:t>7 · gera_previsoes</a:t>
            </a:r>
            <a:endParaRPr lang="en-US" sz="1300" dirty="0"/>
          </a:p>
          <a:p>
            <a:pPr marL="0" indent="0" algn="l">
              <a:lnSpc>
                <a:spcPts val="1690"/>
              </a:lnSpc>
              <a:buNone/>
            </a:pPr>
            <a:r>
              <a:rPr lang="en-US" sz="1300" dirty="0">
                <a:solidFill>
                  <a:srgbClr val="4A5568"/>
                </a:solidFill>
                <a:latin typeface="DM Sans" pitchFamily="34" charset="0"/>
                <a:ea typeface="DM Sans" pitchFamily="34" charset="-122"/>
                <a:cs typeface="DM Sans" pitchFamily="34" charset="-120"/>
              </a:rPr>
              <a:t>Previsões x real para o Grafana</a:t>
            </a:r>
            <a:endParaRPr lang="en-US" sz="1300" dirty="0"/>
          </a:p>
        </p:txBody>
      </p:sp>
      <p:sp>
        <p:nvSpPr>
          <p:cNvPr id="14" name="Text 11"/>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15" name="Text 1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SIMULANDO A PASSAGEM DO TEMPO</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A data de corte faz o papel de “hoje”</a:t>
            </a:r>
            <a:endParaRPr lang="en-US" sz="3200" dirty="0"/>
          </a:p>
        </p:txBody>
      </p:sp>
      <p:sp>
        <p:nvSpPr>
          <p:cNvPr id="4" name="Shape 2"/>
          <p:cNvSpPr/>
          <p:nvPr/>
        </p:nvSpPr>
        <p:spPr>
          <a:xfrm>
            <a:off x="812800" y="1879600"/>
            <a:ext cx="6137910" cy="716280"/>
          </a:xfrm>
          <a:custGeom>
            <a:avLst/>
            <a:gdLst/>
            <a:ahLst/>
            <a:cxnLst/>
            <a:rect l="l" t="t" r="r" b="b"/>
            <a:pathLst>
              <a:path w="6137910" h="716280">
                <a:moveTo>
                  <a:pt x="0" y="76200"/>
                </a:moveTo>
                <a:arcTo wR="76200" hR="76200" stAng="10800000" swAng="5400000"/>
                <a:lnTo>
                  <a:pt x="6137910" y="0"/>
                </a:lnTo>
                <a:lnTo>
                  <a:pt x="6137910" y="716280"/>
                </a:lnTo>
                <a:lnTo>
                  <a:pt x="76200" y="716280"/>
                </a:lnTo>
                <a:arcTo wR="76200" hR="76200" stAng="5400000" swAng="5400000"/>
                <a:close/>
              </a:path>
            </a:pathLst>
          </a:custGeom>
          <a:solidFill>
            <a:srgbClr val="1D6B7C"/>
          </a:solidFill>
          <a:ln/>
        </p:spPr>
        <p:txBody>
          <a:bodyPr/>
          <a:lstStyle/>
          <a:p>
            <a:endParaRPr lang="pt-BR"/>
          </a:p>
        </p:txBody>
      </p:sp>
      <p:sp>
        <p:nvSpPr>
          <p:cNvPr id="5" name="Text 3"/>
          <p:cNvSpPr/>
          <p:nvPr/>
        </p:nvSpPr>
        <p:spPr>
          <a:xfrm>
            <a:off x="990600" y="2006600"/>
            <a:ext cx="59557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Treino</a:t>
            </a:r>
            <a:endParaRPr lang="en-US" sz="1400" dirty="0"/>
          </a:p>
        </p:txBody>
      </p:sp>
      <p:sp>
        <p:nvSpPr>
          <p:cNvPr id="6" name="Text 4"/>
          <p:cNvSpPr/>
          <p:nvPr/>
        </p:nvSpPr>
        <p:spPr>
          <a:xfrm>
            <a:off x="990600" y="2255521"/>
            <a:ext cx="5955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EF0"/>
                </a:solidFill>
                <a:latin typeface="DM Sans" pitchFamily="34" charset="0"/>
                <a:ea typeface="DM Sans" pitchFamily="34" charset="-122"/>
                <a:cs typeface="DM Sans" pitchFamily="34" charset="-120"/>
              </a:rPr>
              <a:t>todo o histórico até 12 semanas antes do corte</a:t>
            </a:r>
            <a:endParaRPr lang="en-US" sz="1200" dirty="0"/>
          </a:p>
        </p:txBody>
      </p:sp>
      <p:sp>
        <p:nvSpPr>
          <p:cNvPr id="7" name="Shape 5"/>
          <p:cNvSpPr/>
          <p:nvPr/>
        </p:nvSpPr>
        <p:spPr>
          <a:xfrm>
            <a:off x="6950710" y="1879600"/>
            <a:ext cx="2214245" cy="716280"/>
          </a:xfrm>
          <a:prstGeom prst="rect">
            <a:avLst/>
          </a:prstGeom>
          <a:solidFill>
            <a:srgbClr val="F2A23A"/>
          </a:solidFill>
          <a:ln/>
        </p:spPr>
        <p:txBody>
          <a:bodyPr/>
          <a:lstStyle/>
          <a:p>
            <a:endParaRPr lang="pt-BR"/>
          </a:p>
        </p:txBody>
      </p:sp>
      <p:sp>
        <p:nvSpPr>
          <p:cNvPr id="8" name="Text 6"/>
          <p:cNvSpPr/>
          <p:nvPr/>
        </p:nvSpPr>
        <p:spPr>
          <a:xfrm>
            <a:off x="7128510" y="2006600"/>
            <a:ext cx="19144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5213A"/>
                </a:solidFill>
                <a:latin typeface="DM Sans" pitchFamily="34" charset="0"/>
                <a:ea typeface="DM Sans" pitchFamily="34" charset="-122"/>
                <a:cs typeface="DM Sans" pitchFamily="34" charset="-120"/>
              </a:rPr>
              <a:t>Validação</a:t>
            </a:r>
            <a:endParaRPr lang="en-US" sz="1400" dirty="0"/>
          </a:p>
        </p:txBody>
      </p:sp>
      <p:sp>
        <p:nvSpPr>
          <p:cNvPr id="9" name="Text 7"/>
          <p:cNvSpPr/>
          <p:nvPr/>
        </p:nvSpPr>
        <p:spPr>
          <a:xfrm>
            <a:off x="7128510" y="2255521"/>
            <a:ext cx="19144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213A"/>
                </a:solidFill>
                <a:latin typeface="DM Sans" pitchFamily="34" charset="0"/>
                <a:ea typeface="DM Sans" pitchFamily="34" charset="-122"/>
                <a:cs typeface="DM Sans" pitchFamily="34" charset="-120"/>
              </a:rPr>
              <a:t>12 semanas</a:t>
            </a:r>
            <a:endParaRPr lang="en-US" sz="1200" dirty="0"/>
          </a:p>
        </p:txBody>
      </p:sp>
      <p:sp>
        <p:nvSpPr>
          <p:cNvPr id="10" name="Shape 8"/>
          <p:cNvSpPr/>
          <p:nvPr/>
        </p:nvSpPr>
        <p:spPr>
          <a:xfrm>
            <a:off x="9164955" y="1879600"/>
            <a:ext cx="2214245" cy="716280"/>
          </a:xfrm>
          <a:custGeom>
            <a:avLst/>
            <a:gdLst/>
            <a:ahLst/>
            <a:cxnLst/>
            <a:rect l="l" t="t" r="r" b="b"/>
            <a:pathLst>
              <a:path w="2214245" h="716280">
                <a:moveTo>
                  <a:pt x="2138045" y="0"/>
                </a:moveTo>
                <a:arcTo wR="76200" hR="76200" stAng="16200000" swAng="5400000"/>
                <a:lnTo>
                  <a:pt x="2214245" y="640080"/>
                </a:lnTo>
                <a:arcTo wR="76200" hR="76200" stAng="0" swAng="5400000"/>
                <a:lnTo>
                  <a:pt x="0" y="716280"/>
                </a:lnTo>
                <a:lnTo>
                  <a:pt x="0" y="0"/>
                </a:lnTo>
                <a:close/>
              </a:path>
            </a:pathLst>
          </a:custGeom>
          <a:solidFill>
            <a:srgbClr val="15213A"/>
          </a:solidFill>
          <a:ln/>
        </p:spPr>
        <p:txBody>
          <a:bodyPr/>
          <a:lstStyle/>
          <a:p>
            <a:endParaRPr lang="pt-BR"/>
          </a:p>
        </p:txBody>
      </p:sp>
      <p:sp>
        <p:nvSpPr>
          <p:cNvPr id="11" name="Text 9"/>
          <p:cNvSpPr/>
          <p:nvPr/>
        </p:nvSpPr>
        <p:spPr>
          <a:xfrm>
            <a:off x="9342755" y="2006600"/>
            <a:ext cx="19144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Monitoramento</a:t>
            </a:r>
            <a:endParaRPr lang="en-US" sz="1400" dirty="0"/>
          </a:p>
        </p:txBody>
      </p:sp>
      <p:sp>
        <p:nvSpPr>
          <p:cNvPr id="12" name="Text 10"/>
          <p:cNvSpPr/>
          <p:nvPr/>
        </p:nvSpPr>
        <p:spPr>
          <a:xfrm>
            <a:off x="9342755" y="2255521"/>
            <a:ext cx="19144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12 semanas</a:t>
            </a:r>
            <a:endParaRPr lang="en-US" sz="1200" dirty="0"/>
          </a:p>
        </p:txBody>
      </p:sp>
      <p:pic>
        <p:nvPicPr>
          <p:cNvPr id="13" name="Image 0" descr="arrow-up"/>
          <p:cNvPicPr>
            <a:picLocks noChangeAspect="1"/>
          </p:cNvPicPr>
          <p:nvPr/>
        </p:nvPicPr>
        <p:blipFill>
          <a:blip r:embed="rId3"/>
          <a:srcRect/>
          <a:stretch/>
        </p:blipFill>
        <p:spPr>
          <a:xfrm>
            <a:off x="9311878" y="2697482"/>
            <a:ext cx="177800" cy="279400"/>
          </a:xfrm>
          <a:prstGeom prst="rect">
            <a:avLst/>
          </a:prstGeom>
        </p:spPr>
      </p:pic>
      <p:sp>
        <p:nvSpPr>
          <p:cNvPr id="14" name="Text 11"/>
          <p:cNvSpPr/>
          <p:nvPr/>
        </p:nvSpPr>
        <p:spPr>
          <a:xfrm>
            <a:off x="9565878" y="2721611"/>
            <a:ext cx="131387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5213A"/>
                </a:solidFill>
                <a:latin typeface="DM Sans" pitchFamily="34" charset="0"/>
                <a:ea typeface="DM Sans" pitchFamily="34" charset="-122"/>
                <a:cs typeface="DM Sans" pitchFamily="34" charset="-120"/>
              </a:rPr>
              <a:t>data de corte</a:t>
            </a:r>
            <a:endParaRPr lang="en-US" sz="1300" dirty="0"/>
          </a:p>
        </p:txBody>
      </p:sp>
      <p:sp>
        <p:nvSpPr>
          <p:cNvPr id="15" name="Shape 12"/>
          <p:cNvSpPr/>
          <p:nvPr/>
        </p:nvSpPr>
        <p:spPr>
          <a:xfrm>
            <a:off x="815975" y="3284857"/>
            <a:ext cx="3414157" cy="1192530"/>
          </a:xfrm>
          <a:prstGeom prst="roundRect">
            <a:avLst>
              <a:gd name="adj" fmla="val 6124"/>
            </a:avLst>
          </a:prstGeom>
          <a:solidFill>
            <a:srgbClr val="FDFDFA"/>
          </a:solidFill>
          <a:ln w="6350">
            <a:solidFill>
              <a:srgbClr val="DEDBD2"/>
            </a:solidFill>
            <a:prstDash val="solid"/>
          </a:ln>
        </p:spPr>
        <p:txBody>
          <a:bodyPr/>
          <a:lstStyle/>
          <a:p>
            <a:endParaRPr lang="pt-BR"/>
          </a:p>
        </p:txBody>
      </p:sp>
      <p:sp>
        <p:nvSpPr>
          <p:cNvPr id="16" name="Text 13"/>
          <p:cNvSpPr/>
          <p:nvPr/>
        </p:nvSpPr>
        <p:spPr>
          <a:xfrm>
            <a:off x="1021080" y="34899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Treino</a:t>
            </a:r>
            <a:endParaRPr lang="en-US" sz="1600" dirty="0"/>
          </a:p>
        </p:txBody>
      </p:sp>
      <p:sp>
        <p:nvSpPr>
          <p:cNvPr id="17" name="Text 14"/>
          <p:cNvSpPr/>
          <p:nvPr/>
        </p:nvSpPr>
        <p:spPr>
          <a:xfrm>
            <a:off x="1021080" y="3810000"/>
            <a:ext cx="309406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 Optuna escolhe os hiperparâmetros olhando só para o passado.</a:t>
            </a:r>
            <a:endParaRPr lang="en-US" sz="1300" dirty="0"/>
          </a:p>
        </p:txBody>
      </p:sp>
      <p:sp>
        <p:nvSpPr>
          <p:cNvPr id="18" name="Shape 15"/>
          <p:cNvSpPr/>
          <p:nvPr/>
        </p:nvSpPr>
        <p:spPr>
          <a:xfrm>
            <a:off x="4388882" y="3284857"/>
            <a:ext cx="3414157" cy="1192530"/>
          </a:xfrm>
          <a:prstGeom prst="roundRect">
            <a:avLst>
              <a:gd name="adj" fmla="val 6124"/>
            </a:avLst>
          </a:prstGeom>
          <a:solidFill>
            <a:srgbClr val="FDFDFA"/>
          </a:solidFill>
          <a:ln w="6350">
            <a:solidFill>
              <a:srgbClr val="DEDBD2"/>
            </a:solidFill>
            <a:prstDash val="solid"/>
          </a:ln>
        </p:spPr>
        <p:txBody>
          <a:bodyPr/>
          <a:lstStyle/>
          <a:p>
            <a:endParaRPr lang="pt-BR"/>
          </a:p>
        </p:txBody>
      </p:sp>
      <p:sp>
        <p:nvSpPr>
          <p:cNvPr id="19" name="Text 16"/>
          <p:cNvSpPr/>
          <p:nvPr/>
        </p:nvSpPr>
        <p:spPr>
          <a:xfrm>
            <a:off x="4593987" y="34899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Validação</a:t>
            </a:r>
            <a:endParaRPr lang="en-US" sz="1600" dirty="0"/>
          </a:p>
        </p:txBody>
      </p:sp>
      <p:sp>
        <p:nvSpPr>
          <p:cNvPr id="20" name="Text 17"/>
          <p:cNvSpPr/>
          <p:nvPr/>
        </p:nvSpPr>
        <p:spPr>
          <a:xfrm>
            <a:off x="4593987" y="3810000"/>
            <a:ext cx="309406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 gate compara candidato e champion na mesma janela.</a:t>
            </a:r>
            <a:endParaRPr lang="en-US" sz="1300" dirty="0"/>
          </a:p>
        </p:txBody>
      </p:sp>
      <p:sp>
        <p:nvSpPr>
          <p:cNvPr id="21" name="Shape 18"/>
          <p:cNvSpPr/>
          <p:nvPr/>
        </p:nvSpPr>
        <p:spPr>
          <a:xfrm>
            <a:off x="7961789" y="3284857"/>
            <a:ext cx="3414157" cy="1192530"/>
          </a:xfrm>
          <a:prstGeom prst="roundRect">
            <a:avLst>
              <a:gd name="adj" fmla="val 6124"/>
            </a:avLst>
          </a:prstGeom>
          <a:solidFill>
            <a:srgbClr val="FDFDFA"/>
          </a:solidFill>
          <a:ln w="6350">
            <a:solidFill>
              <a:srgbClr val="DEDBD2"/>
            </a:solidFill>
            <a:prstDash val="solid"/>
          </a:ln>
        </p:spPr>
        <p:txBody>
          <a:bodyPr/>
          <a:lstStyle/>
          <a:p>
            <a:endParaRPr lang="pt-BR"/>
          </a:p>
        </p:txBody>
      </p:sp>
      <p:sp>
        <p:nvSpPr>
          <p:cNvPr id="22" name="Text 19"/>
          <p:cNvSpPr/>
          <p:nvPr/>
        </p:nvSpPr>
        <p:spPr>
          <a:xfrm>
            <a:off x="8166894" y="34899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A"/>
                </a:solidFill>
                <a:latin typeface="DM Sans" pitchFamily="34" charset="0"/>
                <a:ea typeface="DM Sans" pitchFamily="34" charset="-122"/>
                <a:cs typeface="DM Sans" pitchFamily="34" charset="-120"/>
              </a:rPr>
              <a:t>Monitoramento</a:t>
            </a:r>
            <a:endParaRPr lang="en-US" sz="1600" dirty="0"/>
          </a:p>
        </p:txBody>
      </p:sp>
      <p:sp>
        <p:nvSpPr>
          <p:cNvPr id="23" name="Text 20"/>
          <p:cNvSpPr/>
          <p:nvPr/>
        </p:nvSpPr>
        <p:spPr>
          <a:xfrm>
            <a:off x="8166894" y="3810000"/>
            <a:ext cx="309406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As previsões ficam lado a lado com a venda real.</a:t>
            </a:r>
            <a:endParaRPr lang="en-US" sz="1300" dirty="0"/>
          </a:p>
        </p:txBody>
      </p:sp>
      <p:sp>
        <p:nvSpPr>
          <p:cNvPr id="24" name="Text 21"/>
          <p:cNvSpPr/>
          <p:nvPr/>
        </p:nvSpPr>
        <p:spPr>
          <a:xfrm>
            <a:off x="812800" y="47853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5213A"/>
                </a:solidFill>
                <a:latin typeface="DM Sans" pitchFamily="34" charset="0"/>
                <a:ea typeface="DM Sans" pitchFamily="34" charset="-122"/>
                <a:cs typeface="DM Sans" pitchFamily="34" charset="-120"/>
              </a:rPr>
              <a:t>Três execuções:</a:t>
            </a:r>
            <a:r>
              <a:rPr lang="en-US" sz="1500" dirty="0">
                <a:solidFill>
                  <a:srgbClr val="15213A"/>
                </a:solidFill>
                <a:latin typeface="DM Sans" pitchFamily="34" charset="0"/>
                <a:ea typeface="DM Sans" pitchFamily="34" charset="-122"/>
                <a:cs typeface="DM Sans" pitchFamily="34" charset="-120"/>
              </a:rPr>
              <a:t> cortes em 27/06/2016, 27/03/2017 e 25/09/2017. Divisão temporal, nunca aleatória.</a:t>
            </a:r>
            <a:endParaRPr lang="en-US" sz="1500" dirty="0"/>
          </a:p>
        </p:txBody>
      </p:sp>
      <p:sp>
        <p:nvSpPr>
          <p:cNvPr id="25" name="Text 2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26" name="Text 23"/>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MLFLOW TRACKING · AULA 1</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Cada tentativa de treino fica registrada</a:t>
            </a:r>
            <a:endParaRPr lang="en-US" sz="3200" dirty="0"/>
          </a:p>
        </p:txBody>
      </p:sp>
      <p:sp>
        <p:nvSpPr>
          <p:cNvPr id="4" name="Shape 2"/>
          <p:cNvSpPr/>
          <p:nvPr/>
        </p:nvSpPr>
        <p:spPr>
          <a:xfrm>
            <a:off x="812800" y="1879600"/>
            <a:ext cx="5130800" cy="2616200"/>
          </a:xfrm>
          <a:prstGeom prst="roundRect">
            <a:avLst>
              <a:gd name="adj" fmla="val 2913"/>
            </a:avLst>
          </a:prstGeom>
          <a:solidFill>
            <a:srgbClr val="14171F"/>
          </a:solidFill>
          <a:ln/>
        </p:spPr>
        <p:txBody>
          <a:bodyPr/>
          <a:lstStyle/>
          <a:p>
            <a:endParaRPr lang="pt-BR"/>
          </a:p>
        </p:txBody>
      </p:sp>
      <p:pic>
        <p:nvPicPr>
          <p:cNvPr id="5" name="Image 0" descr="Experimento dataco_demanda_semanal no MLflow com as três runs de corte e as runs filhas do Optuna"/>
          <p:cNvPicPr>
            <a:picLocks noChangeAspect="1"/>
          </p:cNvPicPr>
          <p:nvPr/>
        </p:nvPicPr>
        <p:blipFill>
          <a:blip r:embed="rId3"/>
          <a:srcRect l="-23" r="-23"/>
          <a:stretch/>
        </p:blipFill>
        <p:spPr>
          <a:xfrm>
            <a:off x="812800" y="1879600"/>
            <a:ext cx="5130800" cy="2616200"/>
          </a:xfrm>
          <a:prstGeom prst="roundRect">
            <a:avLst>
              <a:gd name="adj" fmla="val 2913"/>
            </a:avLst>
          </a:prstGeom>
        </p:spPr>
      </p:pic>
      <p:sp>
        <p:nvSpPr>
          <p:cNvPr id="6" name="Text 3"/>
          <p:cNvSpPr/>
          <p:nvPr/>
        </p:nvSpPr>
        <p:spPr>
          <a:xfrm>
            <a:off x="812800" y="4622800"/>
            <a:ext cx="5284724"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5213A"/>
                </a:solidFill>
                <a:latin typeface="DM Sans" pitchFamily="34" charset="0"/>
                <a:ea typeface="DM Sans" pitchFamily="34" charset="-122"/>
                <a:cs typeface="DM Sans" pitchFamily="34" charset="-120"/>
              </a:rPr>
              <a:t>Uma run por corte</a:t>
            </a:r>
            <a:r>
              <a:rPr lang="en-US" sz="1300" dirty="0">
                <a:solidFill>
                  <a:srgbClr val="4A5568"/>
                </a:solidFill>
                <a:latin typeface="DM Sans" pitchFamily="34" charset="0"/>
                <a:ea typeface="DM Sans" pitchFamily="34" charset="-122"/>
                <a:cs typeface="DM Sans" pitchFamily="34" charset="-120"/>
              </a:rPr>
              <a:t> e uma run filha por tentativa do Optuna: 47 runs ao todo.</a:t>
            </a:r>
            <a:endParaRPr lang="en-US" sz="1300" dirty="0"/>
          </a:p>
        </p:txBody>
      </p:sp>
      <p:sp>
        <p:nvSpPr>
          <p:cNvPr id="7" name="Shape 4"/>
          <p:cNvSpPr/>
          <p:nvPr/>
        </p:nvSpPr>
        <p:spPr>
          <a:xfrm>
            <a:off x="6248400" y="1879600"/>
            <a:ext cx="5130800" cy="2616200"/>
          </a:xfrm>
          <a:prstGeom prst="roundRect">
            <a:avLst>
              <a:gd name="adj" fmla="val 2913"/>
            </a:avLst>
          </a:prstGeom>
          <a:solidFill>
            <a:srgbClr val="14171F"/>
          </a:solidFill>
          <a:ln/>
        </p:spPr>
        <p:txBody>
          <a:bodyPr/>
          <a:lstStyle/>
          <a:p>
            <a:endParaRPr lang="pt-BR"/>
          </a:p>
        </p:txBody>
      </p:sp>
      <p:pic>
        <p:nvPicPr>
          <p:cNvPr id="8" name="Image 1" descr="Run corte_2017-09-25 no MLflow com tags, parâmetros escolhidos e métricas de validação"/>
          <p:cNvPicPr>
            <a:picLocks noChangeAspect="1"/>
          </p:cNvPicPr>
          <p:nvPr/>
        </p:nvPicPr>
        <p:blipFill>
          <a:blip r:embed="rId4"/>
          <a:srcRect l="-264" r="-264"/>
          <a:stretch/>
        </p:blipFill>
        <p:spPr>
          <a:xfrm>
            <a:off x="6248400" y="1879600"/>
            <a:ext cx="5130800" cy="2616200"/>
          </a:xfrm>
          <a:prstGeom prst="roundRect">
            <a:avLst>
              <a:gd name="adj" fmla="val 2913"/>
            </a:avLst>
          </a:prstGeom>
        </p:spPr>
      </p:pic>
      <p:sp>
        <p:nvSpPr>
          <p:cNvPr id="9" name="Text 5"/>
          <p:cNvSpPr/>
          <p:nvPr/>
        </p:nvSpPr>
        <p:spPr>
          <a:xfrm>
            <a:off x="6248400" y="4622800"/>
            <a:ext cx="5284724"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5213A"/>
                </a:solidFill>
                <a:latin typeface="DM Sans" pitchFamily="34" charset="0"/>
                <a:ea typeface="DM Sans" pitchFamily="34" charset="-122"/>
                <a:cs typeface="DM Sans" pitchFamily="34" charset="-120"/>
              </a:rPr>
              <a:t>Parâmetros, métricas e baseline</a:t>
            </a:r>
            <a:r>
              <a:rPr lang="en-US" sz="1300" dirty="0">
                <a:solidFill>
                  <a:srgbClr val="4A5568"/>
                </a:solidFill>
                <a:latin typeface="DM Sans" pitchFamily="34" charset="0"/>
                <a:ea typeface="DM Sans" pitchFamily="34" charset="-122"/>
                <a:cs typeface="DM Sans" pitchFamily="34" charset="-120"/>
              </a:rPr>
              <a:t> lado a lado, com o hash dos dados de treino.</a:t>
            </a:r>
            <a:endParaRPr lang="en-US" sz="1300" dirty="0"/>
          </a:p>
        </p:txBody>
      </p:sp>
      <p:sp>
        <p:nvSpPr>
          <p:cNvPr id="10" name="Text 6"/>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11" name="Text 7"/>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696"/>
          </a:xfrm>
          <a:prstGeom prst="rect">
            <a:avLst/>
          </a:prstGeom>
          <a:noFill/>
          <a:ln/>
        </p:spPr>
        <p:txBody>
          <a:bodyPr wrap="square" lIns="0" tIns="0" rIns="0" bIns="0" rtlCol="0" anchor="t">
            <a:normAutofit/>
          </a:bodyPr>
          <a:lstStyle/>
          <a:p>
            <a:pPr marL="0" indent="0" algn="l">
              <a:lnSpc>
                <a:spcPts val="1675"/>
              </a:lnSpc>
              <a:buNone/>
            </a:pPr>
            <a:r>
              <a:rPr lang="en-US" sz="1196" b="1" kern="0" spc="200" dirty="0">
                <a:solidFill>
                  <a:srgbClr val="1D6B7C"/>
                </a:solidFill>
                <a:latin typeface="DM Sans" pitchFamily="34" charset="0"/>
                <a:ea typeface="DM Sans" pitchFamily="34" charset="-122"/>
                <a:cs typeface="DM Sans" pitchFamily="34" charset="-120"/>
              </a:rPr>
              <a:t>MODEL REGISTRY · O GATE DE PROMOÇÃO</a:t>
            </a:r>
            <a:endParaRPr lang="en-US" sz="1196" dirty="0"/>
          </a:p>
        </p:txBody>
      </p:sp>
      <p:sp>
        <p:nvSpPr>
          <p:cNvPr id="3" name="Text 1"/>
          <p:cNvSpPr>
            <a:spLocks noGrp="1"/>
          </p:cNvSpPr>
          <p:nvPr>
            <p:ph type="title"/>
          </p:nvPr>
        </p:nvSpPr>
        <p:spPr>
          <a:xfrm>
            <a:off x="812800" y="1125696"/>
            <a:ext cx="10883392" cy="46799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Um modelo novo só entra se for melhor</a:t>
            </a:r>
            <a:endParaRPr lang="en-US" sz="3200" dirty="0"/>
          </a:p>
        </p:txBody>
      </p:sp>
      <p:sp>
        <p:nvSpPr>
          <p:cNvPr id="4" name="Shape 2"/>
          <p:cNvSpPr/>
          <p:nvPr/>
        </p:nvSpPr>
        <p:spPr>
          <a:xfrm>
            <a:off x="812800" y="1873092"/>
            <a:ext cx="3810000" cy="2580640"/>
          </a:xfrm>
          <a:prstGeom prst="roundRect">
            <a:avLst>
              <a:gd name="adj" fmla="val 3937"/>
            </a:avLst>
          </a:prstGeom>
          <a:solidFill>
            <a:srgbClr val="15213A"/>
          </a:solidFill>
          <a:ln/>
        </p:spPr>
        <p:txBody>
          <a:bodyPr/>
          <a:lstStyle/>
          <a:p>
            <a:endParaRPr lang="pt-BR"/>
          </a:p>
        </p:txBody>
      </p:sp>
      <p:sp>
        <p:nvSpPr>
          <p:cNvPr id="5" name="Text 3"/>
          <p:cNvSpPr/>
          <p:nvPr/>
        </p:nvSpPr>
        <p:spPr>
          <a:xfrm>
            <a:off x="1066800" y="2127092"/>
            <a:ext cx="340106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23A"/>
                </a:solidFill>
                <a:latin typeface="DM Sans" pitchFamily="34" charset="0"/>
                <a:ea typeface="DM Sans" pitchFamily="34" charset="-122"/>
                <a:cs typeface="DM Sans" pitchFamily="34" charset="-120"/>
              </a:rPr>
              <a:t>A regra</a:t>
            </a:r>
            <a:endParaRPr lang="en-US" sz="1800" dirty="0"/>
          </a:p>
        </p:txBody>
      </p:sp>
      <p:sp>
        <p:nvSpPr>
          <p:cNvPr id="6" name="Text 4"/>
          <p:cNvSpPr/>
          <p:nvPr/>
        </p:nvSpPr>
        <p:spPr>
          <a:xfrm>
            <a:off x="1066800" y="2503013"/>
            <a:ext cx="340106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DM Sans" pitchFamily="34" charset="0"/>
                <a:ea typeface="DM Sans" pitchFamily="34" charset="-122"/>
                <a:cs typeface="DM Sans" pitchFamily="34" charset="-120"/>
              </a:rPr>
              <a:t>O candidato vira </a:t>
            </a:r>
            <a:r>
              <a:rPr lang="en-US" sz="1400" b="1" dirty="0">
                <a:solidFill>
                  <a:srgbClr val="F5F4EF"/>
                </a:solidFill>
                <a:latin typeface="DM Sans" pitchFamily="34" charset="0"/>
                <a:ea typeface="DM Sans" pitchFamily="34" charset="-122"/>
                <a:cs typeface="DM Sans" pitchFamily="34" charset="-120"/>
              </a:rPr>
              <a:t>@champion</a:t>
            </a:r>
            <a:r>
              <a:rPr lang="en-US" sz="1400" dirty="0">
                <a:solidFill>
                  <a:srgbClr val="F5F4EF"/>
                </a:solidFill>
                <a:latin typeface="DM Sans" pitchFamily="34" charset="0"/>
                <a:ea typeface="DM Sans" pitchFamily="34" charset="-122"/>
                <a:cs typeface="DM Sans" pitchFamily="34" charset="-120"/>
              </a:rPr>
              <a:t> só se o RMSE dele for menor que:</a:t>
            </a:r>
            <a:endParaRPr lang="en-US" sz="1400" dirty="0"/>
          </a:p>
        </p:txBody>
      </p:sp>
      <p:sp>
        <p:nvSpPr>
          <p:cNvPr id="7" name="Text 5"/>
          <p:cNvSpPr/>
          <p:nvPr/>
        </p:nvSpPr>
        <p:spPr>
          <a:xfrm>
            <a:off x="1066800" y="3102452"/>
            <a:ext cx="340106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1.</a:t>
            </a:r>
            <a:r>
              <a:rPr lang="en-US" sz="1400" dirty="0">
                <a:solidFill>
                  <a:srgbClr val="C9D3E3"/>
                </a:solidFill>
                <a:latin typeface="DM Sans" pitchFamily="34" charset="0"/>
                <a:ea typeface="DM Sans" pitchFamily="34" charset="-122"/>
                <a:cs typeface="DM Sans" pitchFamily="34" charset="-120"/>
              </a:rPr>
              <a:t> o da regra simples, “a semana que vem repete esta”</a:t>
            </a:r>
            <a:endParaRPr lang="en-US" sz="1400" dirty="0"/>
          </a:p>
        </p:txBody>
      </p:sp>
      <p:sp>
        <p:nvSpPr>
          <p:cNvPr id="8" name="Text 6"/>
          <p:cNvSpPr/>
          <p:nvPr/>
        </p:nvSpPr>
        <p:spPr>
          <a:xfrm>
            <a:off x="1066800" y="3701892"/>
            <a:ext cx="340106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DM Sans" pitchFamily="34" charset="0"/>
                <a:ea typeface="DM Sans" pitchFamily="34" charset="-122"/>
                <a:cs typeface="DM Sans" pitchFamily="34" charset="-120"/>
              </a:rPr>
              <a:t>2.</a:t>
            </a:r>
            <a:r>
              <a:rPr lang="en-US" sz="1400" dirty="0">
                <a:solidFill>
                  <a:srgbClr val="C9D3E3"/>
                </a:solidFill>
                <a:latin typeface="DM Sans" pitchFamily="34" charset="0"/>
                <a:ea typeface="DM Sans" pitchFamily="34" charset="-122"/>
                <a:cs typeface="DM Sans" pitchFamily="34" charset="-120"/>
              </a:rPr>
              <a:t> o do champion atual, medido na mesma janela</a:t>
            </a:r>
            <a:endParaRPr lang="en-US" sz="1400" dirty="0"/>
          </a:p>
        </p:txBody>
      </p:sp>
      <p:sp>
        <p:nvSpPr>
          <p:cNvPr id="9" name="Shape 7"/>
          <p:cNvSpPr/>
          <p:nvPr/>
        </p:nvSpPr>
        <p:spPr>
          <a:xfrm>
            <a:off x="815975" y="4609306"/>
            <a:ext cx="3803650" cy="1263650"/>
          </a:xfrm>
          <a:prstGeom prst="roundRect">
            <a:avLst>
              <a:gd name="adj" fmla="val 5779"/>
            </a:avLst>
          </a:prstGeom>
          <a:solidFill>
            <a:srgbClr val="FDFDFA"/>
          </a:solidFill>
          <a:ln w="6350">
            <a:solidFill>
              <a:srgbClr val="DEDBD2"/>
            </a:solidFill>
            <a:prstDash val="solid"/>
          </a:ln>
        </p:spPr>
        <p:txBody>
          <a:bodyPr/>
          <a:lstStyle/>
          <a:p>
            <a:endParaRPr lang="pt-BR"/>
          </a:p>
        </p:txBody>
      </p:sp>
      <p:sp>
        <p:nvSpPr>
          <p:cNvPr id="10" name="Text 8"/>
          <p:cNvSpPr/>
          <p:nvPr/>
        </p:nvSpPr>
        <p:spPr>
          <a:xfrm>
            <a:off x="995680" y="4789010"/>
            <a:ext cx="35475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D6B7C"/>
                </a:solidFill>
                <a:latin typeface="DM Sans" pitchFamily="34" charset="0"/>
                <a:ea typeface="DM Sans" pitchFamily="34" charset="-122"/>
                <a:cs typeface="DM Sans" pitchFamily="34" charset="-120"/>
              </a:rPr>
              <a:t>LOG DO AIRFLOW, CORTE 3</a:t>
            </a:r>
            <a:endParaRPr lang="en-US" sz="1200" dirty="0"/>
          </a:p>
        </p:txBody>
      </p:sp>
      <p:sp>
        <p:nvSpPr>
          <p:cNvPr id="11" name="Text 9"/>
          <p:cNvSpPr/>
          <p:nvPr/>
        </p:nvSpPr>
        <p:spPr>
          <a:xfrm>
            <a:off x="995680" y="5053174"/>
            <a:ext cx="354756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213A"/>
                </a:solidFill>
                <a:latin typeface="Courier New" pitchFamily="49" charset="0"/>
                <a:ea typeface="Courier New" pitchFamily="49" charset="-122"/>
                <a:cs typeface="Courier New" pitchFamily="49" charset="-120"/>
              </a:rPr>
              <a:t>Candidato v3 RMSE 26.76</a:t>
            </a:r>
            <a:endParaRPr lang="en-US" sz="1200" dirty="0"/>
          </a:p>
          <a:p>
            <a:pPr marL="0" indent="0" algn="l">
              <a:lnSpc>
                <a:spcPts val="1680"/>
              </a:lnSpc>
              <a:buNone/>
            </a:pPr>
            <a:r>
              <a:rPr lang="en-US" sz="1200" dirty="0">
                <a:solidFill>
                  <a:srgbClr val="15213A"/>
                </a:solidFill>
                <a:latin typeface="Courier New" pitchFamily="49" charset="0"/>
                <a:ea typeface="Courier New" pitchFamily="49" charset="-122"/>
                <a:cs typeface="Courier New" pitchFamily="49" charset="-120"/>
              </a:rPr>
              <a:t>champion v2 RMSE 35.34</a:t>
            </a:r>
            <a:endParaRPr lang="en-US" sz="1200" dirty="0"/>
          </a:p>
          <a:p>
            <a:pPr marL="0" indent="0" algn="l">
              <a:lnSpc>
                <a:spcPts val="1680"/>
              </a:lnSpc>
              <a:buNone/>
            </a:pPr>
            <a:r>
              <a:rPr lang="en-US" sz="1200" dirty="0">
                <a:solidFill>
                  <a:srgbClr val="15213A"/>
                </a:solidFill>
                <a:latin typeface="Courier New" pitchFamily="49" charset="0"/>
                <a:ea typeface="Courier New" pitchFamily="49" charset="-122"/>
                <a:cs typeface="Courier New" pitchFamily="49" charset="-120"/>
              </a:rPr>
              <a:t>→ PROMOVIDO</a:t>
            </a:r>
            <a:endParaRPr lang="en-US" sz="1200" dirty="0"/>
          </a:p>
        </p:txBody>
      </p:sp>
      <p:sp>
        <p:nvSpPr>
          <p:cNvPr id="12" name="Shape 10"/>
          <p:cNvSpPr/>
          <p:nvPr/>
        </p:nvSpPr>
        <p:spPr>
          <a:xfrm>
            <a:off x="4927600" y="1873092"/>
            <a:ext cx="6451600" cy="3130550"/>
          </a:xfrm>
          <a:prstGeom prst="roundRect">
            <a:avLst>
              <a:gd name="adj" fmla="val 2434"/>
            </a:avLst>
          </a:prstGeom>
          <a:solidFill>
            <a:srgbClr val="14171F"/>
          </a:solidFill>
          <a:ln/>
        </p:spPr>
        <p:txBody>
          <a:bodyPr/>
          <a:lstStyle/>
          <a:p>
            <a:endParaRPr lang="pt-BR"/>
          </a:p>
        </p:txBody>
      </p:sp>
      <p:pic>
        <p:nvPicPr>
          <p:cNvPr id="13" name="Image 0" descr="Model Registry do MLflow com as versões 1, 2 e 3 do modelo dataco_demanda, tags de decisão do gate e o alias champion na versão 3"/>
          <p:cNvPicPr>
            <a:picLocks noChangeAspect="1"/>
          </p:cNvPicPr>
          <p:nvPr/>
        </p:nvPicPr>
        <p:blipFill>
          <a:blip r:embed="rId3"/>
          <a:srcRect l="-10" r="-10"/>
          <a:stretch/>
        </p:blipFill>
        <p:spPr>
          <a:xfrm>
            <a:off x="4927600" y="1873092"/>
            <a:ext cx="6451600" cy="3130550"/>
          </a:xfrm>
          <a:prstGeom prst="roundRect">
            <a:avLst>
              <a:gd name="adj" fmla="val 2434"/>
            </a:avLst>
          </a:prstGeom>
        </p:spPr>
      </p:pic>
      <p:sp>
        <p:nvSpPr>
          <p:cNvPr id="14"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MONITORAMENTO NO GRAFANA · AULA 4</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Em tempo normal, a previsão acompanha a venda</a:t>
            </a:r>
            <a:endParaRPr lang="en-US" sz="3200" dirty="0"/>
          </a:p>
        </p:txBody>
      </p:sp>
      <p:sp>
        <p:nvSpPr>
          <p:cNvPr id="4" name="Shape 2"/>
          <p:cNvSpPr/>
          <p:nvPr/>
        </p:nvSpPr>
        <p:spPr>
          <a:xfrm>
            <a:off x="812800" y="1879600"/>
            <a:ext cx="5130800" cy="2228850"/>
          </a:xfrm>
          <a:prstGeom prst="roundRect">
            <a:avLst>
              <a:gd name="adj" fmla="val 3419"/>
            </a:avLst>
          </a:prstGeom>
          <a:solidFill>
            <a:srgbClr val="14171F"/>
          </a:solidFill>
          <a:ln/>
        </p:spPr>
        <p:txBody>
          <a:bodyPr/>
          <a:lstStyle/>
          <a:p>
            <a:endParaRPr lang="pt-BR"/>
          </a:p>
        </p:txBody>
      </p:sp>
      <p:pic>
        <p:nvPicPr>
          <p:cNvPr id="5" name="Image 0" descr="Painel do Grafana com a data de corte 2016-06-27: cards verdes, demanda real 27.661, prevista 27.393, diferença de menos 1,0 por cento"/>
          <p:cNvPicPr>
            <a:picLocks noChangeAspect="1"/>
          </p:cNvPicPr>
          <p:nvPr/>
        </p:nvPicPr>
        <p:blipFill>
          <a:blip r:embed="rId3"/>
          <a:srcRect l="-2" r="-2"/>
          <a:stretch/>
        </p:blipFill>
        <p:spPr>
          <a:xfrm>
            <a:off x="812800" y="1879600"/>
            <a:ext cx="5130800" cy="2228850"/>
          </a:xfrm>
          <a:prstGeom prst="roundRect">
            <a:avLst>
              <a:gd name="adj" fmla="val 3419"/>
            </a:avLst>
          </a:prstGeom>
        </p:spPr>
      </p:pic>
      <p:sp>
        <p:nvSpPr>
          <p:cNvPr id="6" name="Shape 3"/>
          <p:cNvSpPr/>
          <p:nvPr/>
        </p:nvSpPr>
        <p:spPr>
          <a:xfrm>
            <a:off x="815975" y="4238625"/>
            <a:ext cx="1636157"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7" name="Text 4"/>
          <p:cNvSpPr/>
          <p:nvPr/>
        </p:nvSpPr>
        <p:spPr>
          <a:xfrm>
            <a:off x="944880" y="4342129"/>
            <a:ext cx="14291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Real, corte 1</a:t>
            </a:r>
            <a:endParaRPr lang="en-US" sz="1200" dirty="0"/>
          </a:p>
        </p:txBody>
      </p:sp>
      <p:sp>
        <p:nvSpPr>
          <p:cNvPr id="8" name="Text 5"/>
          <p:cNvSpPr/>
          <p:nvPr/>
        </p:nvSpPr>
        <p:spPr>
          <a:xfrm>
            <a:off x="944880" y="4580892"/>
            <a:ext cx="142914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5213A"/>
                </a:solidFill>
                <a:latin typeface="DM Sans" pitchFamily="34" charset="0"/>
                <a:ea typeface="DM Sans" pitchFamily="34" charset="-122"/>
                <a:cs typeface="DM Sans" pitchFamily="34" charset="-120"/>
              </a:rPr>
              <a:t>27.661</a:t>
            </a:r>
            <a:endParaRPr lang="en-US" sz="2000" dirty="0"/>
          </a:p>
        </p:txBody>
      </p:sp>
      <p:sp>
        <p:nvSpPr>
          <p:cNvPr id="9" name="Shape 6"/>
          <p:cNvSpPr/>
          <p:nvPr/>
        </p:nvSpPr>
        <p:spPr>
          <a:xfrm>
            <a:off x="2560082" y="4238625"/>
            <a:ext cx="1636236"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10" name="Text 7"/>
          <p:cNvSpPr/>
          <p:nvPr/>
        </p:nvSpPr>
        <p:spPr>
          <a:xfrm>
            <a:off x="2688987" y="4342129"/>
            <a:ext cx="14292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Previsto</a:t>
            </a:r>
            <a:endParaRPr lang="en-US" sz="1200" dirty="0"/>
          </a:p>
        </p:txBody>
      </p:sp>
      <p:sp>
        <p:nvSpPr>
          <p:cNvPr id="11" name="Text 8"/>
          <p:cNvSpPr/>
          <p:nvPr/>
        </p:nvSpPr>
        <p:spPr>
          <a:xfrm>
            <a:off x="2688987" y="4580892"/>
            <a:ext cx="142922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5213A"/>
                </a:solidFill>
                <a:latin typeface="DM Sans" pitchFamily="34" charset="0"/>
                <a:ea typeface="DM Sans" pitchFamily="34" charset="-122"/>
                <a:cs typeface="DM Sans" pitchFamily="34" charset="-120"/>
              </a:rPr>
              <a:t>27.393</a:t>
            </a:r>
            <a:endParaRPr lang="en-US" sz="2000" dirty="0"/>
          </a:p>
        </p:txBody>
      </p:sp>
      <p:sp>
        <p:nvSpPr>
          <p:cNvPr id="12" name="Shape 9"/>
          <p:cNvSpPr/>
          <p:nvPr/>
        </p:nvSpPr>
        <p:spPr>
          <a:xfrm>
            <a:off x="4304268" y="4238625"/>
            <a:ext cx="1636157"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13" name="Text 10"/>
          <p:cNvSpPr/>
          <p:nvPr/>
        </p:nvSpPr>
        <p:spPr>
          <a:xfrm>
            <a:off x="4433173" y="4342129"/>
            <a:ext cx="14291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Diferença</a:t>
            </a:r>
            <a:endParaRPr lang="en-US" sz="1200" dirty="0"/>
          </a:p>
        </p:txBody>
      </p:sp>
      <p:sp>
        <p:nvSpPr>
          <p:cNvPr id="14" name="Text 11"/>
          <p:cNvSpPr/>
          <p:nvPr/>
        </p:nvSpPr>
        <p:spPr>
          <a:xfrm>
            <a:off x="4433173" y="4580892"/>
            <a:ext cx="142914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6B7C"/>
                </a:solidFill>
                <a:latin typeface="DM Sans" pitchFamily="34" charset="0"/>
                <a:ea typeface="DM Sans" pitchFamily="34" charset="-122"/>
                <a:cs typeface="DM Sans" pitchFamily="34" charset="-120"/>
              </a:rPr>
              <a:t>−1,0%</a:t>
            </a:r>
            <a:endParaRPr lang="en-US" sz="2000" dirty="0"/>
          </a:p>
        </p:txBody>
      </p:sp>
      <p:sp>
        <p:nvSpPr>
          <p:cNvPr id="15" name="Shape 12"/>
          <p:cNvSpPr/>
          <p:nvPr/>
        </p:nvSpPr>
        <p:spPr>
          <a:xfrm>
            <a:off x="6248400" y="1879600"/>
            <a:ext cx="5130800" cy="2228850"/>
          </a:xfrm>
          <a:prstGeom prst="roundRect">
            <a:avLst>
              <a:gd name="adj" fmla="val 3419"/>
            </a:avLst>
          </a:prstGeom>
          <a:solidFill>
            <a:srgbClr val="14171F"/>
          </a:solidFill>
          <a:ln/>
        </p:spPr>
        <p:txBody>
          <a:bodyPr/>
          <a:lstStyle/>
          <a:p>
            <a:endParaRPr lang="pt-BR"/>
          </a:p>
        </p:txBody>
      </p:sp>
      <p:pic>
        <p:nvPicPr>
          <p:cNvPr id="16" name="Image 1" descr="Painel do Grafana com a data de corte 2017-03-27: cards verdes, demanda real 26.188, prevista 27.486, diferença de 5,0 por cento"/>
          <p:cNvPicPr>
            <a:picLocks noChangeAspect="1"/>
          </p:cNvPicPr>
          <p:nvPr/>
        </p:nvPicPr>
        <p:blipFill>
          <a:blip r:embed="rId4"/>
          <a:stretch>
            <a:fillRect/>
          </a:stretch>
        </p:blipFill>
        <p:spPr>
          <a:xfrm>
            <a:off x="6277858" y="1879600"/>
            <a:ext cx="5071884" cy="2228850"/>
          </a:xfrm>
          <a:custGeom>
            <a:avLst/>
            <a:gdLst/>
            <a:ahLst/>
            <a:cxnLst/>
            <a:rect l="l" t="t" r="r" b="b"/>
            <a:pathLst>
              <a:path w="5071884" h="2228850">
                <a:moveTo>
                  <a:pt x="0" y="16020"/>
                </a:moveTo>
                <a:arcTo wR="76200" hR="76200" stAng="13929792" swAng="2270208"/>
                <a:lnTo>
                  <a:pt x="5025142" y="0"/>
                </a:lnTo>
                <a:arcTo wR="76200" hR="76200" stAng="16200000" swAng="2270208"/>
                <a:lnTo>
                  <a:pt x="5071884" y="2212830"/>
                </a:lnTo>
                <a:arcTo wR="76200" hR="76200" stAng="3129792" swAng="2270208"/>
                <a:lnTo>
                  <a:pt x="46742" y="2228850"/>
                </a:lnTo>
                <a:arcTo wR="76200" hR="76200" stAng="5400000" swAng="2270208"/>
                <a:close/>
              </a:path>
            </a:pathLst>
          </a:custGeom>
        </p:spPr>
      </p:pic>
      <p:sp>
        <p:nvSpPr>
          <p:cNvPr id="17" name="Shape 13"/>
          <p:cNvSpPr/>
          <p:nvPr/>
        </p:nvSpPr>
        <p:spPr>
          <a:xfrm>
            <a:off x="6251575" y="4238625"/>
            <a:ext cx="1636157"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18" name="Text 14"/>
          <p:cNvSpPr/>
          <p:nvPr/>
        </p:nvSpPr>
        <p:spPr>
          <a:xfrm>
            <a:off x="6380480" y="4342129"/>
            <a:ext cx="14291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Real, corte 2</a:t>
            </a:r>
            <a:endParaRPr lang="en-US" sz="1200" dirty="0"/>
          </a:p>
        </p:txBody>
      </p:sp>
      <p:sp>
        <p:nvSpPr>
          <p:cNvPr id="19" name="Text 15"/>
          <p:cNvSpPr/>
          <p:nvPr/>
        </p:nvSpPr>
        <p:spPr>
          <a:xfrm>
            <a:off x="6380480" y="4580892"/>
            <a:ext cx="142914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5213A"/>
                </a:solidFill>
                <a:latin typeface="DM Sans" pitchFamily="34" charset="0"/>
                <a:ea typeface="DM Sans" pitchFamily="34" charset="-122"/>
                <a:cs typeface="DM Sans" pitchFamily="34" charset="-120"/>
              </a:rPr>
              <a:t>26.188</a:t>
            </a:r>
            <a:endParaRPr lang="en-US" sz="2000" dirty="0"/>
          </a:p>
        </p:txBody>
      </p:sp>
      <p:sp>
        <p:nvSpPr>
          <p:cNvPr id="20" name="Shape 16"/>
          <p:cNvSpPr/>
          <p:nvPr/>
        </p:nvSpPr>
        <p:spPr>
          <a:xfrm>
            <a:off x="7995682" y="4238625"/>
            <a:ext cx="1636236"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21" name="Text 17"/>
          <p:cNvSpPr/>
          <p:nvPr/>
        </p:nvSpPr>
        <p:spPr>
          <a:xfrm>
            <a:off x="8124587" y="4342129"/>
            <a:ext cx="14292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Previsto</a:t>
            </a:r>
            <a:endParaRPr lang="en-US" sz="1200" dirty="0"/>
          </a:p>
        </p:txBody>
      </p:sp>
      <p:sp>
        <p:nvSpPr>
          <p:cNvPr id="22" name="Text 18"/>
          <p:cNvSpPr/>
          <p:nvPr/>
        </p:nvSpPr>
        <p:spPr>
          <a:xfrm>
            <a:off x="8124587" y="4580892"/>
            <a:ext cx="142922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5213A"/>
                </a:solidFill>
                <a:latin typeface="DM Sans" pitchFamily="34" charset="0"/>
                <a:ea typeface="DM Sans" pitchFamily="34" charset="-122"/>
                <a:cs typeface="DM Sans" pitchFamily="34" charset="-120"/>
              </a:rPr>
              <a:t>27.486</a:t>
            </a:r>
            <a:endParaRPr lang="en-US" sz="2000" dirty="0"/>
          </a:p>
        </p:txBody>
      </p:sp>
      <p:sp>
        <p:nvSpPr>
          <p:cNvPr id="23" name="Shape 19"/>
          <p:cNvSpPr/>
          <p:nvPr/>
        </p:nvSpPr>
        <p:spPr>
          <a:xfrm>
            <a:off x="9739868" y="4238625"/>
            <a:ext cx="1636157" cy="801370"/>
          </a:xfrm>
          <a:prstGeom prst="roundRect">
            <a:avLst>
              <a:gd name="adj" fmla="val 9113"/>
            </a:avLst>
          </a:prstGeom>
          <a:solidFill>
            <a:srgbClr val="FDFDFA"/>
          </a:solidFill>
          <a:ln w="6350">
            <a:solidFill>
              <a:srgbClr val="DEDBD2"/>
            </a:solidFill>
            <a:prstDash val="solid"/>
          </a:ln>
        </p:spPr>
        <p:txBody>
          <a:bodyPr/>
          <a:lstStyle/>
          <a:p>
            <a:endParaRPr lang="pt-BR"/>
          </a:p>
        </p:txBody>
      </p:sp>
      <p:sp>
        <p:nvSpPr>
          <p:cNvPr id="24" name="Text 20"/>
          <p:cNvSpPr/>
          <p:nvPr/>
        </p:nvSpPr>
        <p:spPr>
          <a:xfrm>
            <a:off x="9868774" y="4342129"/>
            <a:ext cx="14291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Diferença</a:t>
            </a:r>
            <a:endParaRPr lang="en-US" sz="1200" dirty="0"/>
          </a:p>
        </p:txBody>
      </p:sp>
      <p:sp>
        <p:nvSpPr>
          <p:cNvPr id="25" name="Text 21"/>
          <p:cNvSpPr/>
          <p:nvPr/>
        </p:nvSpPr>
        <p:spPr>
          <a:xfrm>
            <a:off x="9868774" y="4580892"/>
            <a:ext cx="142914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6B7C"/>
                </a:solidFill>
                <a:latin typeface="DM Sans" pitchFamily="34" charset="0"/>
                <a:ea typeface="DM Sans" pitchFamily="34" charset="-122"/>
                <a:cs typeface="DM Sans" pitchFamily="34" charset="-120"/>
              </a:rPr>
              <a:t>+5,0%</a:t>
            </a:r>
            <a:endParaRPr lang="en-US" sz="2000" dirty="0"/>
          </a:p>
        </p:txBody>
      </p:sp>
      <p:sp>
        <p:nvSpPr>
          <p:cNvPr id="26" name="Text 22"/>
          <p:cNvSpPr/>
          <p:nvPr/>
        </p:nvSpPr>
        <p:spPr>
          <a:xfrm>
            <a:off x="812800" y="534797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5213A"/>
                </a:solidFill>
                <a:latin typeface="DM Sans" pitchFamily="34" charset="0"/>
                <a:ea typeface="DM Sans" pitchFamily="34" charset="-122"/>
                <a:cs typeface="DM Sans" pitchFamily="34" charset="-120"/>
              </a:rPr>
              <a:t>Erro médio de 20 a 23 unidades por categoria por semana: cerca de 10% de uma venda típica de 230.</a:t>
            </a:r>
            <a:endParaRPr lang="en-US" sz="1500" dirty="0"/>
          </a:p>
        </p:txBody>
      </p:sp>
      <p:sp>
        <p:nvSpPr>
          <p:cNvPr id="27" name="Text 2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Totais das 10 categorias nas 12 semanas seguintes a cada corte</a:t>
            </a:r>
            <a:endParaRPr lang="en-US" sz="1200" dirty="0"/>
          </a:p>
        </p:txBody>
      </p:sp>
      <p:sp>
        <p:nvSpPr>
          <p:cNvPr id="28" name="Text 2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1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2A23A"/>
                </a:solidFill>
                <a:effectLst/>
                <a:uLnTx/>
                <a:uFillTx/>
                <a:latin typeface="DM Sans" pitchFamily="34" charset="0"/>
                <a:ea typeface="DM Sans" pitchFamily="34" charset="-122"/>
                <a:cs typeface="DM Sans" pitchFamily="34" charset="-120"/>
              </a:rPr>
              <a:t>EXECUÇÃO 3 · CORTE 2017-09-25</a:t>
            </a:r>
            <a:endParaRPr kumimoji="0" lang="en-US" sz="1200" b="0" i="0" u="none" strike="noStrike" kern="1200" cap="none" spc="0" normalizeH="0" baseline="0" noProof="0" dirty="0">
              <a:ln>
                <a:noFill/>
              </a:ln>
              <a:solidFill>
                <a:srgbClr val="15213A"/>
              </a:solidFill>
              <a:effectLst/>
              <a:uLnTx/>
              <a:uFillTx/>
              <a:latin typeface="DM Sans"/>
              <a:ea typeface="+mn-ea"/>
              <a:cs typeface="+mn-cs"/>
            </a:endParaRPr>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4EF"/>
                </a:solidFill>
                <a:latin typeface="DM Sans" pitchFamily="34" charset="0"/>
                <a:ea typeface="DM Sans" pitchFamily="34" charset="-122"/>
                <a:cs typeface="DM Sans" pitchFamily="34" charset="-120"/>
              </a:rPr>
              <a:t>O gate aprovou. O monitoramento acusou.</a:t>
            </a:r>
            <a:endParaRPr lang="en-US" sz="3200" dirty="0"/>
          </a:p>
        </p:txBody>
      </p:sp>
      <p:sp>
        <p:nvSpPr>
          <p:cNvPr id="4" name="Shape 2"/>
          <p:cNvSpPr/>
          <p:nvPr/>
        </p:nvSpPr>
        <p:spPr>
          <a:xfrm>
            <a:off x="812800" y="1879600"/>
            <a:ext cx="6985000" cy="3073400"/>
          </a:xfrm>
          <a:prstGeom prst="roundRect">
            <a:avLst>
              <a:gd name="adj" fmla="val 2479"/>
            </a:avLst>
          </a:prstGeom>
          <a:solidFill>
            <a:srgbClr val="14171F"/>
          </a:solidFill>
          <a:ln/>
        </p:spPr>
        <p:txBody>
          <a:bodyPr/>
          <a:lstStyle/>
          <a:p>
            <a:endParaRPr lang="pt-BR"/>
          </a:p>
        </p:txBody>
      </p:sp>
      <p:pic>
        <p:nvPicPr>
          <p:cNvPr id="5" name="Image 0" descr="Painel do Grafana com a data de corte 2017-09-25: MAE 66,2 e diferença de 6.210 por cento em vermelho; a linha da demanda real cai a zero em outubro de 2017 enquanto a previsão segue alta"/>
          <p:cNvPicPr>
            <a:picLocks noChangeAspect="1"/>
          </p:cNvPicPr>
          <p:nvPr/>
        </p:nvPicPr>
        <p:blipFill>
          <a:blip r:embed="rId3"/>
          <a:srcRect l="-274" r="-274"/>
          <a:stretch/>
        </p:blipFill>
        <p:spPr>
          <a:xfrm>
            <a:off x="819150" y="1885950"/>
            <a:ext cx="6972300" cy="3060700"/>
          </a:xfrm>
          <a:prstGeom prst="roundRect">
            <a:avLst>
              <a:gd name="adj" fmla="val 2282"/>
            </a:avLst>
          </a:prstGeom>
        </p:spPr>
      </p:pic>
      <p:sp>
        <p:nvSpPr>
          <p:cNvPr id="6" name="Shape 3"/>
          <p:cNvSpPr/>
          <p:nvPr/>
        </p:nvSpPr>
        <p:spPr>
          <a:xfrm>
            <a:off x="815975" y="1882775"/>
            <a:ext cx="6978650" cy="3067050"/>
          </a:xfrm>
          <a:prstGeom prst="roundRect">
            <a:avLst>
              <a:gd name="adj" fmla="val 2381"/>
            </a:avLst>
          </a:prstGeom>
          <a:noFill/>
          <a:ln w="6350">
            <a:solidFill>
              <a:srgbClr val="2C3B5C"/>
            </a:solidFill>
            <a:prstDash val="solid"/>
          </a:ln>
        </p:spPr>
        <p:txBody>
          <a:bodyPr/>
          <a:lstStyle/>
          <a:p>
            <a:endParaRPr lang="pt-BR"/>
          </a:p>
        </p:txBody>
      </p:sp>
      <p:sp>
        <p:nvSpPr>
          <p:cNvPr id="7" name="Text 4"/>
          <p:cNvSpPr/>
          <p:nvPr/>
        </p:nvSpPr>
        <p:spPr>
          <a:xfrm>
            <a:off x="8102600" y="1879600"/>
            <a:ext cx="3374898"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5F4EF"/>
                </a:solidFill>
                <a:effectLst/>
                <a:uLnTx/>
                <a:uFillTx/>
                <a:latin typeface="DM Sans" pitchFamily="34" charset="0"/>
                <a:ea typeface="DM Sans" pitchFamily="34" charset="-122"/>
                <a:cs typeface="DM Sans" pitchFamily="34" charset="-120"/>
              </a:rPr>
              <a:t>128</a:t>
            </a:r>
            <a:endParaRPr kumimoji="0" lang="en-US" sz="4000" b="0" i="0" u="none" strike="noStrike" kern="1200" cap="none" spc="0" normalizeH="0" baseline="0" noProof="0" dirty="0">
              <a:ln>
                <a:noFill/>
              </a:ln>
              <a:solidFill>
                <a:srgbClr val="15213A"/>
              </a:solidFill>
              <a:effectLst/>
              <a:uLnTx/>
              <a:uFillTx/>
              <a:latin typeface="DM Sans"/>
              <a:ea typeface="+mn-ea"/>
              <a:cs typeface="+mn-cs"/>
            </a:endParaRPr>
          </a:p>
        </p:txBody>
      </p:sp>
      <p:sp>
        <p:nvSpPr>
          <p:cNvPr id="8" name="Text 5"/>
          <p:cNvSpPr/>
          <p:nvPr/>
        </p:nvSpPr>
        <p:spPr>
          <a:xfrm>
            <a:off x="8102600" y="2438400"/>
            <a:ext cx="3374898" cy="2565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9D3E3"/>
                </a:solidFill>
                <a:effectLst/>
                <a:uLnTx/>
                <a:uFillTx/>
                <a:latin typeface="DM Sans" pitchFamily="34" charset="0"/>
                <a:ea typeface="DM Sans" pitchFamily="34" charset="-122"/>
                <a:cs typeface="DM Sans" pitchFamily="34" charset="-120"/>
              </a:rPr>
              <a:t>unidades vendidas em 12 semanas</a:t>
            </a:r>
            <a:endParaRPr kumimoji="0" lang="en-US" sz="1300" b="0" i="0" u="none" strike="noStrike" kern="1200" cap="none" spc="0" normalizeH="0" baseline="0" noProof="0" dirty="0">
              <a:ln>
                <a:noFill/>
              </a:ln>
              <a:solidFill>
                <a:srgbClr val="15213A"/>
              </a:solidFill>
              <a:effectLst/>
              <a:uLnTx/>
              <a:uFillTx/>
              <a:latin typeface="DM Sans"/>
              <a:ea typeface="+mn-ea"/>
              <a:cs typeface="+mn-cs"/>
            </a:endParaRPr>
          </a:p>
        </p:txBody>
      </p:sp>
      <p:sp>
        <p:nvSpPr>
          <p:cNvPr id="9" name="Text 6"/>
          <p:cNvSpPr/>
          <p:nvPr/>
        </p:nvSpPr>
        <p:spPr>
          <a:xfrm>
            <a:off x="8102600" y="2821942"/>
            <a:ext cx="3374898"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A23A"/>
                </a:solidFill>
                <a:effectLst/>
                <a:uLnTx/>
                <a:uFillTx/>
                <a:latin typeface="DM Sans" pitchFamily="34" charset="0"/>
                <a:ea typeface="DM Sans" pitchFamily="34" charset="-122"/>
                <a:cs typeface="DM Sans" pitchFamily="34" charset="-120"/>
              </a:rPr>
              <a:t>8.077</a:t>
            </a:r>
            <a:endParaRPr kumimoji="0" lang="en-US" sz="40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0" name="Text 7"/>
          <p:cNvSpPr/>
          <p:nvPr/>
        </p:nvSpPr>
        <p:spPr>
          <a:xfrm>
            <a:off x="8102600" y="3380742"/>
            <a:ext cx="3374898" cy="2565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9D3E3"/>
                </a:solidFill>
                <a:effectLst/>
                <a:uLnTx/>
                <a:uFillTx/>
                <a:latin typeface="DM Sans" pitchFamily="34" charset="0"/>
                <a:ea typeface="DM Sans" pitchFamily="34" charset="-122"/>
                <a:cs typeface="DM Sans" pitchFamily="34" charset="-120"/>
              </a:rPr>
              <a:t>unidades previstas</a:t>
            </a:r>
            <a:endParaRPr kumimoji="0" lang="en-US" sz="13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1" name="Text 8"/>
          <p:cNvSpPr/>
          <p:nvPr/>
        </p:nvSpPr>
        <p:spPr>
          <a:xfrm>
            <a:off x="8102600" y="3764279"/>
            <a:ext cx="3374898"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A23A"/>
                </a:solidFill>
                <a:effectLst/>
                <a:uLnTx/>
                <a:uFillTx/>
                <a:latin typeface="DM Sans" pitchFamily="34" charset="0"/>
                <a:ea typeface="DM Sans" pitchFamily="34" charset="-122"/>
                <a:cs typeface="DM Sans" pitchFamily="34" charset="-120"/>
              </a:rPr>
              <a:t>MAE 66,2</a:t>
            </a:r>
            <a:endParaRPr kumimoji="0" lang="en-US" sz="40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2" name="Text 9"/>
          <p:cNvSpPr/>
          <p:nvPr/>
        </p:nvSpPr>
        <p:spPr>
          <a:xfrm>
            <a:off x="8102600" y="4323079"/>
            <a:ext cx="3374898" cy="2565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9D3E3"/>
                </a:solidFill>
                <a:effectLst/>
                <a:uLnTx/>
                <a:uFillTx/>
                <a:latin typeface="DM Sans" pitchFamily="34" charset="0"/>
                <a:ea typeface="DM Sans" pitchFamily="34" charset="-122"/>
                <a:cs typeface="DM Sans" pitchFamily="34" charset="-120"/>
              </a:rPr>
              <a:t>três vezes o normal, de cerca de 20</a:t>
            </a:r>
            <a:endParaRPr kumimoji="0" lang="en-US" sz="13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3" name="Text 10"/>
          <p:cNvSpPr/>
          <p:nvPr/>
        </p:nvSpPr>
        <p:spPr>
          <a:xfrm>
            <a:off x="812800" y="5257800"/>
            <a:ext cx="10883392" cy="5943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5F4EF"/>
                </a:solidFill>
                <a:effectLst/>
                <a:uLnTx/>
                <a:uFillTx/>
                <a:latin typeface="DM Sans" pitchFamily="34" charset="0"/>
                <a:ea typeface="DM Sans" pitchFamily="34" charset="-122"/>
                <a:cs typeface="DM Sans" pitchFamily="34" charset="-120"/>
              </a:rPr>
              <a:t>Em outubro de 2017 as 10 categorias principais pararam de vender. Nenhum modelo prevê isso: </a:t>
            </a:r>
            <a:r>
              <a:rPr kumimoji="0" lang="en-US" sz="1600" b="1" i="0" u="none" strike="noStrike" kern="1200" cap="none" spc="0" normalizeH="0" baseline="0" noProof="0" dirty="0">
                <a:ln>
                  <a:noFill/>
                </a:ln>
                <a:solidFill>
                  <a:srgbClr val="F2A23A"/>
                </a:solidFill>
                <a:effectLst/>
                <a:uLnTx/>
                <a:uFillTx/>
                <a:latin typeface="DM Sans" pitchFamily="34" charset="0"/>
                <a:ea typeface="DM Sans" pitchFamily="34" charset="-122"/>
                <a:cs typeface="DM Sans" pitchFamily="34" charset="-120"/>
              </a:rPr>
              <a:t>o painel acusou na primeira semana.</a:t>
            </a:r>
            <a:endParaRPr kumimoji="0" lang="en-US" sz="16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4" name="Text 11"/>
          <p:cNvSpPr/>
          <p:nvPr/>
        </p:nvSpPr>
        <p:spPr>
          <a:xfrm>
            <a:off x="812800" y="6238242"/>
            <a:ext cx="7848600"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9D3E3"/>
                </a:solidFill>
                <a:effectLst/>
                <a:uLnTx/>
                <a:uFillTx/>
                <a:latin typeface="DM Sans" pitchFamily="34" charset="0"/>
                <a:ea typeface="DM Sans" pitchFamily="34" charset="-122"/>
                <a:cs typeface="DM Sans" pitchFamily="34" charset="-120"/>
              </a:rPr>
              <a:t>A queda está nos dados originais do DataCo; a causa de negócio não é conhecida</a:t>
            </a:r>
            <a:endParaRPr kumimoji="0" lang="en-US" sz="1200" b="0" i="0" u="none" strike="noStrike" kern="1200" cap="none" spc="0" normalizeH="0" baseline="0" noProof="0" dirty="0">
              <a:ln>
                <a:noFill/>
              </a:ln>
              <a:solidFill>
                <a:srgbClr val="15213A"/>
              </a:solidFill>
              <a:effectLst/>
              <a:uLnTx/>
              <a:uFillTx/>
              <a:latin typeface="DM Sans"/>
              <a:ea typeface="+mn-ea"/>
              <a:cs typeface="+mn-cs"/>
            </a:endParaRPr>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9D3E3"/>
                </a:solidFill>
                <a:effectLst/>
                <a:uLnTx/>
                <a:uFillTx/>
                <a:latin typeface="DM Sans" pitchFamily="34" charset="0"/>
                <a:ea typeface="DM Sans" pitchFamily="34" charset="-122"/>
                <a:cs typeface="DM Sans" pitchFamily="34" charset="-120"/>
              </a:rPr>
              <a:t>12</a:t>
            </a:r>
            <a:endParaRPr kumimoji="0" lang="en-US" sz="1200" b="0" i="0" u="none" strike="noStrike" kern="1200" cap="none" spc="0" normalizeH="0" baseline="0" noProof="0" dirty="0">
              <a:ln>
                <a:noFill/>
              </a:ln>
              <a:solidFill>
                <a:srgbClr val="15213A"/>
              </a:solidFill>
              <a:effectLst/>
              <a:uLnTx/>
              <a:uFillTx/>
              <a:latin typeface="DM Sans"/>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A RÉGUA DA AULA 1, DE NOVO</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Cada componente subiu um degrau</a:t>
            </a:r>
            <a:endParaRPr lang="en-US" sz="3200" dirty="0"/>
          </a:p>
        </p:txBody>
      </p:sp>
      <p:sp>
        <p:nvSpPr>
          <p:cNvPr id="4" name="Shape 2"/>
          <p:cNvSpPr/>
          <p:nvPr/>
        </p:nvSpPr>
        <p:spPr>
          <a:xfrm>
            <a:off x="812800" y="1879600"/>
            <a:ext cx="3302000" cy="1968500"/>
          </a:xfrm>
          <a:prstGeom prst="roundRect">
            <a:avLst>
              <a:gd name="adj" fmla="val 5161"/>
            </a:avLst>
          </a:prstGeom>
          <a:solidFill>
            <a:srgbClr val="15213A"/>
          </a:solidFill>
          <a:ln/>
        </p:spPr>
        <p:txBody>
          <a:bodyPr/>
          <a:lstStyle/>
          <a:p>
            <a:endParaRPr lang="pt-BR"/>
          </a:p>
        </p:txBody>
      </p:sp>
      <p:sp>
        <p:nvSpPr>
          <p:cNvPr id="5" name="Text 3"/>
          <p:cNvSpPr/>
          <p:nvPr/>
        </p:nvSpPr>
        <p:spPr>
          <a:xfrm>
            <a:off x="1117600" y="2184400"/>
            <a:ext cx="277317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3A"/>
                </a:solidFill>
                <a:latin typeface="DM Sans" pitchFamily="34" charset="0"/>
                <a:ea typeface="DM Sans" pitchFamily="34" charset="-122"/>
                <a:cs typeface="DM Sans" pitchFamily="34" charset="-120"/>
              </a:rPr>
              <a:t>NOTA GERAL</a:t>
            </a:r>
            <a:endParaRPr lang="en-US" sz="1200" dirty="0"/>
          </a:p>
        </p:txBody>
      </p:sp>
      <p:sp>
        <p:nvSpPr>
          <p:cNvPr id="6" name="Text 4"/>
          <p:cNvSpPr/>
          <p:nvPr/>
        </p:nvSpPr>
        <p:spPr>
          <a:xfrm>
            <a:off x="1117600" y="2499364"/>
            <a:ext cx="2773172" cy="505460"/>
          </a:xfrm>
          <a:prstGeom prst="rect">
            <a:avLst/>
          </a:prstGeom>
          <a:noFill/>
          <a:ln/>
        </p:spPr>
        <p:txBody>
          <a:bodyPr wrap="none" lIns="0" tIns="0" rIns="0" bIns="0" rtlCol="0" anchor="t">
            <a:normAutofit/>
          </a:bodyPr>
          <a:lstStyle/>
          <a:p>
            <a:pPr marL="0" indent="0" algn="l">
              <a:lnSpc>
                <a:spcPts val="3780"/>
              </a:lnSpc>
              <a:buNone/>
            </a:pPr>
            <a:r>
              <a:rPr lang="en-US" sz="3600" b="1" dirty="0">
                <a:solidFill>
                  <a:srgbClr val="F5F4EF"/>
                </a:solidFill>
                <a:latin typeface="DM Sans" pitchFamily="34" charset="0"/>
                <a:ea typeface="DM Sans" pitchFamily="34" charset="-122"/>
                <a:cs typeface="DM Sans" pitchFamily="34" charset="-120"/>
              </a:rPr>
              <a:t>6,0 → 8,5</a:t>
            </a:r>
            <a:endParaRPr lang="en-US" sz="3600" dirty="0"/>
          </a:p>
        </p:txBody>
      </p:sp>
      <p:sp>
        <p:nvSpPr>
          <p:cNvPr id="7" name="Text 5"/>
          <p:cNvSpPr/>
          <p:nvPr/>
        </p:nvSpPr>
        <p:spPr>
          <a:xfrm>
            <a:off x="1117600" y="3081021"/>
            <a:ext cx="27731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DM Sans" pitchFamily="34" charset="0"/>
                <a:ea typeface="DM Sans" pitchFamily="34" charset="-122"/>
                <a:cs typeface="DM Sans" pitchFamily="34" charset="-120"/>
              </a:rPr>
              <a:t>de 12 pontos, pela régua da Aula 1. Estimativa nossa, não é nota oficial.</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29760" y="1889760"/>
          <a:ext cx="6949440" cy="3065780"/>
        </p:xfrm>
        <a:graphic>
          <a:graphicData uri="http://schemas.openxmlformats.org/drawingml/2006/table">
            <a:tbl>
              <a:tblPr/>
              <a:tblGrid>
                <a:gridCol w="1806854">
                  <a:extLst>
                    <a:ext uri="{9D8B030D-6E8A-4147-A177-3AD203B41FA5}">
                      <a16:colId xmlns:a16="http://schemas.microsoft.com/office/drawing/2014/main" val="20000"/>
                    </a:ext>
                  </a:extLst>
                </a:gridCol>
                <a:gridCol w="833933">
                  <a:extLst>
                    <a:ext uri="{9D8B030D-6E8A-4147-A177-3AD203B41FA5}">
                      <a16:colId xmlns:a16="http://schemas.microsoft.com/office/drawing/2014/main" val="20001"/>
                    </a:ext>
                  </a:extLst>
                </a:gridCol>
                <a:gridCol w="833933">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5F4EF"/>
                          </a:solidFill>
                          <a:latin typeface="DM Sans" pitchFamily="34" charset="0"/>
                          <a:ea typeface="DM Sans" pitchFamily="34" charset="-122"/>
                          <a:cs typeface="DM Sans" pitchFamily="34" charset="-120"/>
                        </a:rPr>
                        <a:t>Componente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gn="ctr">
                        <a:lnSpc>
                          <a:spcPts val="1820"/>
                        </a:lnSpc>
                        <a:buNone/>
                      </a:pPr>
                      <a:r>
                        <a:rPr lang="en-US" sz="1300" b="1" dirty="0">
                          <a:solidFill>
                            <a:srgbClr val="F5F4EF"/>
                          </a:solidFill>
                          <a:latin typeface="DM Sans" pitchFamily="34" charset="0"/>
                          <a:ea typeface="DM Sans" pitchFamily="34" charset="-122"/>
                          <a:cs typeface="DM Sans" pitchFamily="34" charset="-120"/>
                        </a:rPr>
                        <a:t>Antes</a:t>
                      </a:r>
                      <a:endParaRPr lang="en-US" sz="1300" dirty="0">
                        <a:latin typeface="DM Sans" charset="0"/>
                        <a:ea typeface="DM Sans" charset="0"/>
                        <a:cs typeface="DM Sans" charset="0"/>
                      </a:endParaRPr>
                    </a:p>
                  </a:txBody>
                  <a:tcPr marL="57785" marR="57785" marT="57785" marB="57785">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gn="ctr">
                        <a:lnSpc>
                          <a:spcPts val="1820"/>
                        </a:lnSpc>
                        <a:buNone/>
                      </a:pPr>
                      <a:r>
                        <a:rPr lang="en-US" sz="1300" b="1" dirty="0">
                          <a:solidFill>
                            <a:srgbClr val="F5F4EF"/>
                          </a:solidFill>
                          <a:latin typeface="DM Sans" pitchFamily="34" charset="0"/>
                          <a:ea typeface="DM Sans" pitchFamily="34" charset="-122"/>
                          <a:cs typeface="DM Sans" pitchFamily="34" charset="-120"/>
                        </a:rPr>
                        <a:t>Depois</a:t>
                      </a:r>
                      <a:endParaRPr lang="en-US" sz="1300" dirty="0">
                        <a:latin typeface="DM Sans" charset="0"/>
                        <a:ea typeface="DM Sans" charset="0"/>
                        <a:cs typeface="DM Sans" charset="0"/>
                      </a:endParaRPr>
                    </a:p>
                  </a:txBody>
                  <a:tcPr marL="57785" marR="57785" marT="57785" marB="57785">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tc>
                  <a:txBody>
                    <a:bodyPr/>
                    <a:lstStyle/>
                    <a:p>
                      <a:pPr marL="0" indent="0">
                        <a:lnSpc>
                          <a:spcPts val="1820"/>
                        </a:lnSpc>
                        <a:buNone/>
                      </a:pPr>
                      <a:r>
                        <a:rPr lang="en-US" sz="1300" b="1" dirty="0">
                          <a:solidFill>
                            <a:srgbClr val="F5F4EF"/>
                          </a:solidFill>
                          <a:latin typeface="DM Sans" pitchFamily="34" charset="0"/>
                          <a:ea typeface="DM Sans" pitchFamily="34" charset="-122"/>
                          <a:cs typeface="DM Sans" pitchFamily="34" charset="-120"/>
                        </a:rPr>
                        <a:t>O que mudou</a:t>
                      </a:r>
                      <a:endParaRPr lang="en-US" sz="1300" dirty="0">
                        <a:latin typeface="DM Sans" charset="0"/>
                        <a:ea typeface="DM Sans" charset="0"/>
                        <a:cs typeface="DM Sans" charset="0"/>
                      </a:endParaRPr>
                    </a:p>
                  </a:txBody>
                  <a:tcPr marL="57785" marR="57785" marT="57785" marB="57785">
                    <a:lnL w="12700" cap="flat" cmpd="sng" algn="ctr">
                      <a:solidFill>
                        <a:srgbClr val="151E31"/>
                      </a:solidFill>
                      <a:prstDash val="solid"/>
                      <a:round/>
                      <a:headEnd type="none" w="med" len="med"/>
                      <a:tailEnd type="none" w="med" len="med"/>
                    </a:lnL>
                    <a:lnR w="12700" cap="flat" cmpd="sng" algn="ctr">
                      <a:solidFill>
                        <a:srgbClr val="151E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51E31"/>
                      </a:solidFill>
                      <a:prstDash val="solid"/>
                      <a:round/>
                      <a:headEnd type="none" w="med" len="med"/>
                      <a:tailEnd type="none" w="med" len="med"/>
                    </a:lnB>
                    <a:solidFill>
                      <a:srgbClr val="15213A"/>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Experimentação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2,0</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2,5</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Pipeline orquestrado, tentativas e modelos versionados</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151E31"/>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Implantação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1,5</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2,0</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Docker Compose, testes e gate antes de promover</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Monitoramento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1,0</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2,0</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Previsão x real no Grafana, com limiar de erro</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Governança</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1,5</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2,0</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Model card, hash dos dados e histórico do gate</a:t>
                      </a:r>
                      <a:endParaRPr lang="en-US" sz="1300" dirty="0">
                        <a:latin typeface="DM Sans" charset="0"/>
                        <a:ea typeface="DM Sans" charset="0"/>
                        <a:cs typeface="DM Sans"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ACA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Total</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6,0</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gn="ctr">
                        <a:lnSpc>
                          <a:spcPts val="1820"/>
                        </a:lnSpc>
                        <a:buNone/>
                      </a:pPr>
                      <a:r>
                        <a:rPr lang="en-US" sz="1300" dirty="0">
                          <a:solidFill>
                            <a:srgbClr val="15213A"/>
                          </a:solidFill>
                          <a:latin typeface="DM Sans" pitchFamily="34" charset="0"/>
                          <a:ea typeface="DM Sans" pitchFamily="34" charset="-122"/>
                          <a:cs typeface="DM Sans" pitchFamily="34" charset="-120"/>
                        </a:rPr>
                        <a:t>8,5</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tc>
                  <a:txBody>
                    <a:bodyPr/>
                    <a:lstStyle/>
                    <a:p>
                      <a:pPr marL="0" indent="0">
                        <a:lnSpc>
                          <a:spcPts val="1820"/>
                        </a:lnSpc>
                        <a:buNone/>
                      </a:pPr>
                      <a:r>
                        <a:rPr lang="en-US" sz="1300" dirty="0">
                          <a:solidFill>
                            <a:srgbClr val="15213A"/>
                          </a:solidFill>
                          <a:latin typeface="DM Sans" pitchFamily="34" charset="0"/>
                          <a:ea typeface="DM Sans" pitchFamily="34" charset="-122"/>
                          <a:cs typeface="DM Sans" pitchFamily="34" charset="-120"/>
                        </a:rPr>
                        <a:t>Intermediário nos quatro componentes</a:t>
                      </a:r>
                      <a:endParaRPr lang="en-US" sz="1300" dirty="0">
                        <a:latin typeface="DM Sans" charset="0"/>
                        <a:ea typeface="DM Sans" charset="0"/>
                        <a:cs typeface="DM Sans" charset="0"/>
                      </a:endParaRPr>
                    </a:p>
                  </a:txBody>
                  <a:tcPr marL="57785" marR="57785" marT="57785" marB="57785">
                    <a:lnL w="12700" cap="flat" cmpd="sng" algn="ctr">
                      <a:solidFill>
                        <a:srgbClr val="CACAC7"/>
                      </a:solidFill>
                      <a:prstDash val="solid"/>
                      <a:round/>
                      <a:headEnd type="none" w="med" len="med"/>
                      <a:tailEnd type="none" w="med" len="med"/>
                    </a:lnL>
                    <a:lnR w="12700" cap="flat" cmpd="sng" algn="ctr">
                      <a:solidFill>
                        <a:srgbClr val="CACA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ACAC7"/>
                      </a:solidFill>
                      <a:prstDash val="solid"/>
                      <a:round/>
                      <a:headEnd type="none" w="med" len="med"/>
                      <a:tailEnd type="none" w="med" len="med"/>
                    </a:lnB>
                    <a:solidFill>
                      <a:srgbClr val="FDFDFA"/>
                    </a:solidFill>
                  </a:tcPr>
                </a:tc>
                <a:extLst>
                  <a:ext uri="{0D108BD9-81ED-4DB2-BD59-A6C34878D82A}">
                    <a16:rowId xmlns:a16="http://schemas.microsoft.com/office/drawing/2014/main" val="10005"/>
                  </a:ext>
                </a:extLst>
              </a:tr>
            </a:tbl>
          </a:graphicData>
        </a:graphic>
      </p:graphicFrame>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Escala: 1 = Básico, 2 = Intermediário, 3 = Avançado; meio ponto = parte do nível seguinte</a:t>
            </a:r>
            <a:endParaRPr lang="en-US" sz="1200" dirty="0"/>
          </a:p>
        </p:txBody>
      </p:sp>
      <p:sp>
        <p:nvSpPr>
          <p:cNvPr id="10"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6B7C"/>
                </a:solidFill>
                <a:latin typeface="DM Sans" pitchFamily="34" charset="0"/>
                <a:ea typeface="DM Sans" pitchFamily="34" charset="-122"/>
                <a:cs typeface="DM Sans" pitchFamily="34" charset="-120"/>
              </a:rPr>
              <a:t>PRÓXIMOS PASSOS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213A"/>
                </a:solidFill>
                <a:latin typeface="DM Sans" pitchFamily="34" charset="0"/>
                <a:ea typeface="DM Sans" pitchFamily="34" charset="-122"/>
                <a:cs typeface="DM Sans" pitchFamily="34" charset="-120"/>
              </a:rPr>
              <a:t>O que falta para o nível Avançado</a:t>
            </a:r>
            <a:endParaRPr lang="en-US" sz="3200" dirty="0"/>
          </a:p>
        </p:txBody>
      </p:sp>
      <p:sp>
        <p:nvSpPr>
          <p:cNvPr id="4" name="Text 2"/>
          <p:cNvSpPr/>
          <p:nvPr/>
        </p:nvSpPr>
        <p:spPr>
          <a:xfrm>
            <a:off x="897382" y="1879600"/>
            <a:ext cx="5114036" cy="18923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Alerta automático por e-mail quando o MAE passar do limiar</a:t>
            </a:r>
            <a:endParaRPr lang="en-US" sz="1400" dirty="0"/>
          </a:p>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CI/CD externo com GitHub Actions</a:t>
            </a:r>
            <a:endParaRPr lang="en-US" sz="1400" dirty="0"/>
          </a:p>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Detecção formal de drift com Evidently</a:t>
            </a:r>
            <a:endParaRPr lang="en-US" sz="1400" dirty="0"/>
          </a:p>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Margem mínima de promoção no gate</a:t>
            </a:r>
            <a:endParaRPr lang="en-US" sz="1400" dirty="0"/>
          </a:p>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Erro relativo, além do MAE, no monitoramento</a:t>
            </a:r>
            <a:endParaRPr lang="en-US" sz="1400" dirty="0"/>
          </a:p>
          <a:p>
            <a:pPr marL="169418" indent="-169418" algn="l">
              <a:lnSpc>
                <a:spcPts val="2100"/>
              </a:lnSpc>
              <a:buSzPct val="100000"/>
              <a:buChar char="•"/>
            </a:pPr>
            <a:r>
              <a:rPr lang="en-US" sz="1400" dirty="0">
                <a:solidFill>
                  <a:srgbClr val="4A5568"/>
                </a:solidFill>
                <a:latin typeface="DM Sans" pitchFamily="34" charset="0"/>
                <a:ea typeface="DM Sans" pitchFamily="34" charset="-122"/>
                <a:cs typeface="DM Sans" pitchFamily="34" charset="-120"/>
              </a:rPr>
              <a:t>Custo do erro em reais, via estoque de segurança</a:t>
            </a:r>
            <a:endParaRPr lang="en-US" sz="1400" dirty="0"/>
          </a:p>
        </p:txBody>
      </p:sp>
      <p:sp>
        <p:nvSpPr>
          <p:cNvPr id="5" name="Shape 3"/>
          <p:cNvSpPr/>
          <p:nvPr/>
        </p:nvSpPr>
        <p:spPr>
          <a:xfrm>
            <a:off x="6172200" y="1879600"/>
            <a:ext cx="5207000" cy="3261360"/>
          </a:xfrm>
          <a:prstGeom prst="roundRect">
            <a:avLst>
              <a:gd name="adj" fmla="val 3115"/>
            </a:avLst>
          </a:prstGeom>
          <a:solidFill>
            <a:srgbClr val="15213A"/>
          </a:solidFill>
          <a:ln/>
        </p:spPr>
        <p:txBody>
          <a:bodyPr/>
          <a:lstStyle/>
          <a:p>
            <a:endParaRPr lang="pt-BR"/>
          </a:p>
        </p:txBody>
      </p:sp>
      <p:sp>
        <p:nvSpPr>
          <p:cNvPr id="6" name="Text 4"/>
          <p:cNvSpPr/>
          <p:nvPr/>
        </p:nvSpPr>
        <p:spPr>
          <a:xfrm>
            <a:off x="6477000" y="2184400"/>
            <a:ext cx="473532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3A"/>
                </a:solidFill>
                <a:latin typeface="DM Sans" pitchFamily="34" charset="0"/>
                <a:ea typeface="DM Sans" pitchFamily="34" charset="-122"/>
                <a:cs typeface="DM Sans" pitchFamily="34" charset="-120"/>
              </a:rPr>
              <a:t>EM UMA FRASE</a:t>
            </a:r>
            <a:endParaRPr lang="en-US" sz="1200" dirty="0"/>
          </a:p>
        </p:txBody>
      </p:sp>
      <p:sp>
        <p:nvSpPr>
          <p:cNvPr id="7" name="Text 5"/>
          <p:cNvSpPr/>
          <p:nvPr/>
        </p:nvSpPr>
        <p:spPr>
          <a:xfrm>
            <a:off x="6477000" y="2550164"/>
            <a:ext cx="4735322" cy="19456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5F4EF"/>
                </a:solidFill>
                <a:latin typeface="DM Sans" pitchFamily="34" charset="0"/>
                <a:ea typeface="DM Sans" pitchFamily="34" charset="-122"/>
                <a:cs typeface="DM Sans" pitchFamily="34" charset="-120"/>
              </a:rPr>
              <a:t>O modelo erra 20 a 25% menos que o processo atual. Mas o valor está em outro lugar: a solução </a:t>
            </a:r>
            <a:r>
              <a:rPr lang="en-US" sz="1800" b="1" dirty="0">
                <a:solidFill>
                  <a:srgbClr val="F2A23A"/>
                </a:solidFill>
                <a:latin typeface="DM Sans" pitchFamily="34" charset="0"/>
                <a:ea typeface="DM Sans" pitchFamily="34" charset="-122"/>
                <a:cs typeface="DM Sans" pitchFamily="34" charset="-120"/>
              </a:rPr>
              <a:t>sabe quando trocar o modelo, guarda o porquê de cada decisão e avisa na primeira semana quando a realidade muda.</a:t>
            </a:r>
            <a:endParaRPr lang="en-US" sz="1800" dirty="0"/>
          </a:p>
        </p:txBody>
      </p:sp>
      <p:sp>
        <p:nvSpPr>
          <p:cNvPr id="8" name="Text 6"/>
          <p:cNvSpPr/>
          <p:nvPr/>
        </p:nvSpPr>
        <p:spPr>
          <a:xfrm>
            <a:off x="6477000" y="4622800"/>
            <a:ext cx="47353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DM Sans" pitchFamily="34" charset="0"/>
                <a:ea typeface="DM Sans" pitchFamily="34" charset="-122"/>
                <a:cs typeface="DM Sans" pitchFamily="34" charset="-120"/>
              </a:rPr>
              <a:t>Código: </a:t>
            </a:r>
            <a:r>
              <a:rPr lang="en-US" sz="1200" u="sng" dirty="0">
                <a:solidFill>
                  <a:srgbClr val="C9D3E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github.com/murilocaio75/M14-MLops-Trabalho_Final</a:t>
            </a:r>
            <a:endParaRPr lang="en-US" sz="12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DataCo · MLOps · Trabalho final</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theme/theme1.xml><?xml version="1.0" encoding="utf-8"?>
<a:theme xmlns:a="http://schemas.openxmlformats.org/drawingml/2006/main" name="DataCo MLOps – Trabalho Final">
  <a:themeElements>
    <a:clrScheme name="DataCo MLOps – Trabalho Final">
      <a:dk1>
        <a:srgbClr val="15213A"/>
      </a:dk1>
      <a:lt1>
        <a:srgbClr val="F5F4EF"/>
      </a:lt1>
      <a:dk2>
        <a:srgbClr val="4D5667"/>
      </a:dk2>
      <a:lt2>
        <a:srgbClr val="DFDFDD"/>
      </a:lt2>
      <a:accent1>
        <a:srgbClr val="1D6B7C"/>
      </a:accent1>
      <a:accent2>
        <a:srgbClr val="F2A23A"/>
      </a:accent2>
      <a:accent3>
        <a:srgbClr val="4A5568"/>
      </a:accent3>
      <a:accent4>
        <a:srgbClr val="6B7280"/>
      </a:accent4>
      <a:accent5>
        <a:srgbClr val="C9D3E3"/>
      </a:accent5>
      <a:accent6>
        <a:srgbClr val="14171F"/>
      </a:accent6>
      <a:hlink>
        <a:srgbClr val="0563C1"/>
      </a:hlink>
      <a:folHlink>
        <a:srgbClr val="954F72"/>
      </a:folHlink>
    </a:clrScheme>
    <a:fontScheme name="DataCo MLOps – Trabalho Final">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2232</Words>
  <Application>Microsoft Office PowerPoint</Application>
  <PresentationFormat>Widescreen</PresentationFormat>
  <Paragraphs>224</Paragraphs>
  <Slides>12</Slides>
  <Notes>12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Aptos</vt:lpstr>
      <vt:lpstr>Courier New</vt:lpstr>
      <vt:lpstr>DM Sans</vt:lpstr>
      <vt:lpstr>Arial</vt:lpstr>
      <vt:lpstr>DataCo MLOps – Trabalho Final</vt:lpstr>
      <vt:lpstr>Do diagnóstico ao pipeline</vt:lpstr>
      <vt:lpstr>O diagnóstico deu 6,0 de 12 e apontou três lacunas</vt:lpstr>
      <vt:lpstr>Quanto cada categoria vai vender na próxima semana?</vt:lpstr>
      <vt:lpstr>O MLflow dentro da stack da Aula 4</vt:lpstr>
      <vt:lpstr>Uma DAG, sete etapas, nenhum passo manual</vt:lpstr>
      <vt:lpstr>A data de corte faz o papel de “hoje”</vt:lpstr>
      <vt:lpstr>Cada tentativa de treino fica registrada</vt:lpstr>
      <vt:lpstr>Um modelo novo só entra se for melhor</vt:lpstr>
      <vt:lpstr>Em tempo normal, a previsão acompanha a venda</vt:lpstr>
      <vt:lpstr>O gate aprovou. O monitoramento acusou.</vt:lpstr>
      <vt:lpstr>Cada componente subiu um degrau</vt:lpstr>
      <vt:lpstr>O que falta para o nível Avançado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DataCo MLOps – Trabalho Final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Caio Murilo</cp:lastModifiedBy>
  <cp:revision>4</cp:revision>
  <dcterms:created xsi:type="dcterms:W3CDTF">2026-10-28T16:59:21Z</dcterms:created>
  <dcterms:modified xsi:type="dcterms:W3CDTF">2026-10-29T13:49:49Z</dcterms:modified>
</cp:coreProperties>
</file>